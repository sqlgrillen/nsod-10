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8"/>
  </p:notesMasterIdLst>
  <p:sldIdLst>
    <p:sldId id="256" r:id="rId2"/>
    <p:sldId id="302" r:id="rId3"/>
    <p:sldId id="304" r:id="rId4"/>
    <p:sldId id="257" r:id="rId5"/>
    <p:sldId id="258" r:id="rId6"/>
    <p:sldId id="277" r:id="rId7"/>
    <p:sldId id="299" r:id="rId8"/>
    <p:sldId id="259" r:id="rId9"/>
    <p:sldId id="260" r:id="rId10"/>
    <p:sldId id="305" r:id="rId11"/>
    <p:sldId id="278" r:id="rId12"/>
    <p:sldId id="262" r:id="rId13"/>
    <p:sldId id="263" r:id="rId14"/>
    <p:sldId id="264" r:id="rId15"/>
    <p:sldId id="288" r:id="rId16"/>
    <p:sldId id="281" r:id="rId17"/>
    <p:sldId id="282" r:id="rId18"/>
    <p:sldId id="300" r:id="rId19"/>
    <p:sldId id="283" r:id="rId20"/>
    <p:sldId id="284" r:id="rId21"/>
    <p:sldId id="285" r:id="rId22"/>
    <p:sldId id="279" r:id="rId23"/>
    <p:sldId id="286" r:id="rId24"/>
    <p:sldId id="265" r:id="rId25"/>
    <p:sldId id="280" r:id="rId26"/>
    <p:sldId id="267" r:id="rId27"/>
    <p:sldId id="269" r:id="rId28"/>
    <p:sldId id="289" r:id="rId29"/>
    <p:sldId id="301" r:id="rId30"/>
    <p:sldId id="297" r:id="rId31"/>
    <p:sldId id="271" r:id="rId32"/>
    <p:sldId id="291" r:id="rId33"/>
    <p:sldId id="292" r:id="rId34"/>
    <p:sldId id="293" r:id="rId35"/>
    <p:sldId id="306" r:id="rId36"/>
    <p:sldId id="303" r:id="rId37"/>
  </p:sldIdLst>
  <p:sldSz cx="12188825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3" autoAdjust="0"/>
    <p:restoredTop sz="79562" autoAdjust="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107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1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1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9317CE-DF6D-4B88-A10C-1D056751EEA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E318C3A-C1CC-47C6-B9B8-CD62C4A837C3}">
      <dgm:prSet/>
      <dgm:spPr/>
      <dgm:t>
        <a:bodyPr/>
        <a:lstStyle/>
        <a:p>
          <a:r>
            <a:rPr lang="en-US"/>
            <a:t>Audit your tenant: what exists, who owns it, what's shared externally</a:t>
          </a:r>
        </a:p>
      </dgm:t>
    </dgm:pt>
    <dgm:pt modelId="{2C055939-79BE-4FB8-8B38-1933FE442498}" type="parTrans" cxnId="{6BB8AA7C-9DEA-45F1-98F7-1A99CC2BEA0F}">
      <dgm:prSet/>
      <dgm:spPr/>
      <dgm:t>
        <a:bodyPr/>
        <a:lstStyle/>
        <a:p>
          <a:endParaRPr lang="en-US"/>
        </a:p>
      </dgm:t>
    </dgm:pt>
    <dgm:pt modelId="{1B99F738-4B25-40A8-8E16-6210A1337F9A}" type="sibTrans" cxnId="{6BB8AA7C-9DEA-45F1-98F7-1A99CC2BEA0F}">
      <dgm:prSet/>
      <dgm:spPr/>
      <dgm:t>
        <a:bodyPr/>
        <a:lstStyle/>
        <a:p>
          <a:endParaRPr lang="en-US"/>
        </a:p>
      </dgm:t>
    </dgm:pt>
    <dgm:pt modelId="{145431D6-A0D2-4878-AF42-1C5EC39C9DE8}">
      <dgm:prSet/>
      <dgm:spPr/>
      <dgm:t>
        <a:bodyPr/>
        <a:lstStyle/>
        <a:p>
          <a:r>
            <a:rPr lang="en-US"/>
            <a:t>Fix the 3–4 critical tenant settings (publish to web, external sharing)</a:t>
          </a:r>
        </a:p>
      </dgm:t>
    </dgm:pt>
    <dgm:pt modelId="{19CB0255-01E9-4BF1-85A7-C5959B502A02}" type="parTrans" cxnId="{6DBD4ABC-9014-4AC5-94C3-F212D5BF5E50}">
      <dgm:prSet/>
      <dgm:spPr/>
      <dgm:t>
        <a:bodyPr/>
        <a:lstStyle/>
        <a:p>
          <a:endParaRPr lang="en-US"/>
        </a:p>
      </dgm:t>
    </dgm:pt>
    <dgm:pt modelId="{C899BCAA-5FA7-4193-8414-FEABAE4B8FE4}" type="sibTrans" cxnId="{6DBD4ABC-9014-4AC5-94C3-F212D5BF5E50}">
      <dgm:prSet/>
      <dgm:spPr/>
      <dgm:t>
        <a:bodyPr/>
        <a:lstStyle/>
        <a:p>
          <a:endParaRPr lang="en-US"/>
        </a:p>
      </dgm:t>
    </dgm:pt>
    <dgm:pt modelId="{229E63E6-A257-4C3D-8CDE-1A8AA51D0D67}">
      <dgm:prSet/>
      <dgm:spPr/>
      <dgm:t>
        <a:bodyPr/>
        <a:lstStyle/>
        <a:p>
          <a:r>
            <a:rPr lang="cs-CZ" dirty="0" err="1"/>
            <a:t>Analyze</a:t>
          </a:r>
          <a:r>
            <a:rPr lang="cs-CZ" dirty="0"/>
            <a:t> </a:t>
          </a:r>
          <a:r>
            <a:rPr lang="cs-CZ" dirty="0" err="1"/>
            <a:t>current</a:t>
          </a:r>
          <a:r>
            <a:rPr lang="cs-CZ" dirty="0"/>
            <a:t> data </a:t>
          </a:r>
          <a:r>
            <a:rPr lang="cs-CZ" dirty="0" err="1"/>
            <a:t>structure</a:t>
          </a:r>
          <a:r>
            <a:rPr lang="cs-CZ" dirty="0"/>
            <a:t> and most </a:t>
          </a:r>
          <a:r>
            <a:rPr lang="cs-CZ" dirty="0" err="1"/>
            <a:t>used</a:t>
          </a:r>
          <a:r>
            <a:rPr lang="cs-CZ" dirty="0"/>
            <a:t> data </a:t>
          </a:r>
          <a:r>
            <a:rPr lang="cs-CZ" dirty="0" err="1"/>
            <a:t>models</a:t>
          </a:r>
          <a:endParaRPr lang="en-US" dirty="0"/>
        </a:p>
      </dgm:t>
    </dgm:pt>
    <dgm:pt modelId="{B52F85CD-4380-4950-A456-EC3E88921357}" type="parTrans" cxnId="{CD8FBF19-BA05-4594-9C11-5FB63B3CB87C}">
      <dgm:prSet/>
      <dgm:spPr/>
      <dgm:t>
        <a:bodyPr/>
        <a:lstStyle/>
        <a:p>
          <a:endParaRPr lang="en-US"/>
        </a:p>
      </dgm:t>
    </dgm:pt>
    <dgm:pt modelId="{3A639470-6347-4ECC-81EB-24F7A7733F09}" type="sibTrans" cxnId="{CD8FBF19-BA05-4594-9C11-5FB63B3CB87C}">
      <dgm:prSet/>
      <dgm:spPr/>
      <dgm:t>
        <a:bodyPr/>
        <a:lstStyle/>
        <a:p>
          <a:endParaRPr lang="en-US"/>
        </a:p>
      </dgm:t>
    </dgm:pt>
    <dgm:pt modelId="{71EC48C0-F59D-4579-9B02-44C0655B6A86}" type="pres">
      <dgm:prSet presAssocID="{199317CE-DF6D-4B88-A10C-1D056751EEA9}" presName="root" presStyleCnt="0">
        <dgm:presLayoutVars>
          <dgm:dir/>
          <dgm:resizeHandles val="exact"/>
        </dgm:presLayoutVars>
      </dgm:prSet>
      <dgm:spPr/>
    </dgm:pt>
    <dgm:pt modelId="{EF9E1935-A332-431C-96C2-23C08EB4B2DB}" type="pres">
      <dgm:prSet presAssocID="{0E318C3A-C1CC-47C6-B9B8-CD62C4A837C3}" presName="compNode" presStyleCnt="0"/>
      <dgm:spPr/>
    </dgm:pt>
    <dgm:pt modelId="{4EA6D315-6562-4A45-8A5D-57184986758A}" type="pres">
      <dgm:prSet presAssocID="{0E318C3A-C1CC-47C6-B9B8-CD62C4A837C3}" presName="bgRect" presStyleLbl="bgShp" presStyleIdx="0" presStyleCnt="3"/>
      <dgm:spPr/>
    </dgm:pt>
    <dgm:pt modelId="{6A5ACBCB-D2EB-4EC4-8E5A-00F0652E72BA}" type="pres">
      <dgm:prSet presAssocID="{0E318C3A-C1CC-47C6-B9B8-CD62C4A837C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živatel"/>
        </a:ext>
      </dgm:extLst>
    </dgm:pt>
    <dgm:pt modelId="{C1B70DA6-B716-423E-A006-2F3C6F02A299}" type="pres">
      <dgm:prSet presAssocID="{0E318C3A-C1CC-47C6-B9B8-CD62C4A837C3}" presName="spaceRect" presStyleCnt="0"/>
      <dgm:spPr/>
    </dgm:pt>
    <dgm:pt modelId="{C96A46F9-BF67-45CE-AD8D-BDF179269344}" type="pres">
      <dgm:prSet presAssocID="{0E318C3A-C1CC-47C6-B9B8-CD62C4A837C3}" presName="parTx" presStyleLbl="revTx" presStyleIdx="0" presStyleCnt="3">
        <dgm:presLayoutVars>
          <dgm:chMax val="0"/>
          <dgm:chPref val="0"/>
        </dgm:presLayoutVars>
      </dgm:prSet>
      <dgm:spPr/>
    </dgm:pt>
    <dgm:pt modelId="{C214790B-D056-4EF9-BD6D-6BD5CC787191}" type="pres">
      <dgm:prSet presAssocID="{1B99F738-4B25-40A8-8E16-6210A1337F9A}" presName="sibTrans" presStyleCnt="0"/>
      <dgm:spPr/>
    </dgm:pt>
    <dgm:pt modelId="{CA570A99-9B91-4E24-A4A6-D707A7716698}" type="pres">
      <dgm:prSet presAssocID="{145431D6-A0D2-4878-AF42-1C5EC39C9DE8}" presName="compNode" presStyleCnt="0"/>
      <dgm:spPr/>
    </dgm:pt>
    <dgm:pt modelId="{8537EA0E-297A-4542-844D-736D9BA85B33}" type="pres">
      <dgm:prSet presAssocID="{145431D6-A0D2-4878-AF42-1C5EC39C9DE8}" presName="bgRect" presStyleLbl="bgShp" presStyleIdx="1" presStyleCnt="3"/>
      <dgm:spPr/>
    </dgm:pt>
    <dgm:pt modelId="{4C8CCF92-1520-4861-9333-75C37956287D}" type="pres">
      <dgm:prSet presAssocID="{145431D6-A0D2-4878-AF42-1C5EC39C9DE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19E541E-8665-4B77-8139-82B7D490D636}" type="pres">
      <dgm:prSet presAssocID="{145431D6-A0D2-4878-AF42-1C5EC39C9DE8}" presName="spaceRect" presStyleCnt="0"/>
      <dgm:spPr/>
    </dgm:pt>
    <dgm:pt modelId="{680C7516-5F58-4D36-81B1-D70EAF45BED3}" type="pres">
      <dgm:prSet presAssocID="{145431D6-A0D2-4878-AF42-1C5EC39C9DE8}" presName="parTx" presStyleLbl="revTx" presStyleIdx="1" presStyleCnt="3">
        <dgm:presLayoutVars>
          <dgm:chMax val="0"/>
          <dgm:chPref val="0"/>
        </dgm:presLayoutVars>
      </dgm:prSet>
      <dgm:spPr/>
    </dgm:pt>
    <dgm:pt modelId="{46DAD0AB-746A-43F4-A1E0-B74034D8FA38}" type="pres">
      <dgm:prSet presAssocID="{C899BCAA-5FA7-4193-8414-FEABAE4B8FE4}" presName="sibTrans" presStyleCnt="0"/>
      <dgm:spPr/>
    </dgm:pt>
    <dgm:pt modelId="{6AF2C2E6-8A5E-454D-B43B-7B9C02C8F0DF}" type="pres">
      <dgm:prSet presAssocID="{229E63E6-A257-4C3D-8CDE-1A8AA51D0D67}" presName="compNode" presStyleCnt="0"/>
      <dgm:spPr/>
    </dgm:pt>
    <dgm:pt modelId="{C912A8D8-F978-418D-9BE4-9DF08E56102B}" type="pres">
      <dgm:prSet presAssocID="{229E63E6-A257-4C3D-8CDE-1A8AA51D0D67}" presName="bgRect" presStyleLbl="bgShp" presStyleIdx="2" presStyleCnt="3"/>
      <dgm:spPr/>
    </dgm:pt>
    <dgm:pt modelId="{F59374BB-C28D-422B-899E-8BCFD197BCB0}" type="pres">
      <dgm:prSet presAssocID="{229E63E6-A257-4C3D-8CDE-1A8AA51D0D6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D4DDD6C-136C-4926-A6AF-9B82A7D095B4}" type="pres">
      <dgm:prSet presAssocID="{229E63E6-A257-4C3D-8CDE-1A8AA51D0D67}" presName="spaceRect" presStyleCnt="0"/>
      <dgm:spPr/>
    </dgm:pt>
    <dgm:pt modelId="{8969FAC9-0EA9-4AE3-81FC-9B18616B483F}" type="pres">
      <dgm:prSet presAssocID="{229E63E6-A257-4C3D-8CDE-1A8AA51D0D6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B030508-6598-4FBB-9214-B68FF5E98A6B}" type="presOf" srcId="{229E63E6-A257-4C3D-8CDE-1A8AA51D0D67}" destId="{8969FAC9-0EA9-4AE3-81FC-9B18616B483F}" srcOrd="0" destOrd="0" presId="urn:microsoft.com/office/officeart/2018/2/layout/IconVerticalSolidList"/>
    <dgm:cxn modelId="{CD8FBF19-BA05-4594-9C11-5FB63B3CB87C}" srcId="{199317CE-DF6D-4B88-A10C-1D056751EEA9}" destId="{229E63E6-A257-4C3D-8CDE-1A8AA51D0D67}" srcOrd="2" destOrd="0" parTransId="{B52F85CD-4380-4950-A456-EC3E88921357}" sibTransId="{3A639470-6347-4ECC-81EB-24F7A7733F09}"/>
    <dgm:cxn modelId="{7F60421A-3611-49BD-BD98-199E06C4ADC6}" type="presOf" srcId="{199317CE-DF6D-4B88-A10C-1D056751EEA9}" destId="{71EC48C0-F59D-4579-9B02-44C0655B6A86}" srcOrd="0" destOrd="0" presId="urn:microsoft.com/office/officeart/2018/2/layout/IconVerticalSolidList"/>
    <dgm:cxn modelId="{09E99F37-9CF5-4BCE-948D-B6A507B60EE4}" type="presOf" srcId="{0E318C3A-C1CC-47C6-B9B8-CD62C4A837C3}" destId="{C96A46F9-BF67-45CE-AD8D-BDF179269344}" srcOrd="0" destOrd="0" presId="urn:microsoft.com/office/officeart/2018/2/layout/IconVerticalSolidList"/>
    <dgm:cxn modelId="{6BB8AA7C-9DEA-45F1-98F7-1A99CC2BEA0F}" srcId="{199317CE-DF6D-4B88-A10C-1D056751EEA9}" destId="{0E318C3A-C1CC-47C6-B9B8-CD62C4A837C3}" srcOrd="0" destOrd="0" parTransId="{2C055939-79BE-4FB8-8B38-1933FE442498}" sibTransId="{1B99F738-4B25-40A8-8E16-6210A1337F9A}"/>
    <dgm:cxn modelId="{6DBD4ABC-9014-4AC5-94C3-F212D5BF5E50}" srcId="{199317CE-DF6D-4B88-A10C-1D056751EEA9}" destId="{145431D6-A0D2-4878-AF42-1C5EC39C9DE8}" srcOrd="1" destOrd="0" parTransId="{19CB0255-01E9-4BF1-85A7-C5959B502A02}" sibTransId="{C899BCAA-5FA7-4193-8414-FEABAE4B8FE4}"/>
    <dgm:cxn modelId="{8E9C27D4-0898-4A09-A6A2-037F147D5FFB}" type="presOf" srcId="{145431D6-A0D2-4878-AF42-1C5EC39C9DE8}" destId="{680C7516-5F58-4D36-81B1-D70EAF45BED3}" srcOrd="0" destOrd="0" presId="urn:microsoft.com/office/officeart/2018/2/layout/IconVerticalSolidList"/>
    <dgm:cxn modelId="{A7275401-1F3D-415C-9A7A-41429A5F7E3E}" type="presParOf" srcId="{71EC48C0-F59D-4579-9B02-44C0655B6A86}" destId="{EF9E1935-A332-431C-96C2-23C08EB4B2DB}" srcOrd="0" destOrd="0" presId="urn:microsoft.com/office/officeart/2018/2/layout/IconVerticalSolidList"/>
    <dgm:cxn modelId="{986D3902-3C5D-4352-89EC-05B442DB2152}" type="presParOf" srcId="{EF9E1935-A332-431C-96C2-23C08EB4B2DB}" destId="{4EA6D315-6562-4A45-8A5D-57184986758A}" srcOrd="0" destOrd="0" presId="urn:microsoft.com/office/officeart/2018/2/layout/IconVerticalSolidList"/>
    <dgm:cxn modelId="{72EE1116-01BB-49B6-B206-E3F7352AACDA}" type="presParOf" srcId="{EF9E1935-A332-431C-96C2-23C08EB4B2DB}" destId="{6A5ACBCB-D2EB-4EC4-8E5A-00F0652E72BA}" srcOrd="1" destOrd="0" presId="urn:microsoft.com/office/officeart/2018/2/layout/IconVerticalSolidList"/>
    <dgm:cxn modelId="{C7D56277-62BC-4D7A-9DCA-56D4A12023A4}" type="presParOf" srcId="{EF9E1935-A332-431C-96C2-23C08EB4B2DB}" destId="{C1B70DA6-B716-423E-A006-2F3C6F02A299}" srcOrd="2" destOrd="0" presId="urn:microsoft.com/office/officeart/2018/2/layout/IconVerticalSolidList"/>
    <dgm:cxn modelId="{4F5FE2E6-3699-4CB2-9CE3-7DE9E5ED8E1B}" type="presParOf" srcId="{EF9E1935-A332-431C-96C2-23C08EB4B2DB}" destId="{C96A46F9-BF67-45CE-AD8D-BDF179269344}" srcOrd="3" destOrd="0" presId="urn:microsoft.com/office/officeart/2018/2/layout/IconVerticalSolidList"/>
    <dgm:cxn modelId="{BBC62559-4F2D-49A4-A4CE-58586C9FF062}" type="presParOf" srcId="{71EC48C0-F59D-4579-9B02-44C0655B6A86}" destId="{C214790B-D056-4EF9-BD6D-6BD5CC787191}" srcOrd="1" destOrd="0" presId="urn:microsoft.com/office/officeart/2018/2/layout/IconVerticalSolidList"/>
    <dgm:cxn modelId="{9A520558-4027-4CB9-A878-AE358FF32C31}" type="presParOf" srcId="{71EC48C0-F59D-4579-9B02-44C0655B6A86}" destId="{CA570A99-9B91-4E24-A4A6-D707A7716698}" srcOrd="2" destOrd="0" presId="urn:microsoft.com/office/officeart/2018/2/layout/IconVerticalSolidList"/>
    <dgm:cxn modelId="{D3951CEC-CFBF-428A-BDA8-39B52552D3D6}" type="presParOf" srcId="{CA570A99-9B91-4E24-A4A6-D707A7716698}" destId="{8537EA0E-297A-4542-844D-736D9BA85B33}" srcOrd="0" destOrd="0" presId="urn:microsoft.com/office/officeart/2018/2/layout/IconVerticalSolidList"/>
    <dgm:cxn modelId="{A5644CB3-64EA-44DE-B434-BD8338D3ED51}" type="presParOf" srcId="{CA570A99-9B91-4E24-A4A6-D707A7716698}" destId="{4C8CCF92-1520-4861-9333-75C37956287D}" srcOrd="1" destOrd="0" presId="urn:microsoft.com/office/officeart/2018/2/layout/IconVerticalSolidList"/>
    <dgm:cxn modelId="{2CC194A8-DD59-4339-8882-5BAA8E12AEBF}" type="presParOf" srcId="{CA570A99-9B91-4E24-A4A6-D707A7716698}" destId="{E19E541E-8665-4B77-8139-82B7D490D636}" srcOrd="2" destOrd="0" presId="urn:microsoft.com/office/officeart/2018/2/layout/IconVerticalSolidList"/>
    <dgm:cxn modelId="{A75FF720-94B3-4E9E-967A-DDD45615EE91}" type="presParOf" srcId="{CA570A99-9B91-4E24-A4A6-D707A7716698}" destId="{680C7516-5F58-4D36-81B1-D70EAF45BED3}" srcOrd="3" destOrd="0" presId="urn:microsoft.com/office/officeart/2018/2/layout/IconVerticalSolidList"/>
    <dgm:cxn modelId="{D214BF11-A43F-4C69-9D36-4D26612EB9AC}" type="presParOf" srcId="{71EC48C0-F59D-4579-9B02-44C0655B6A86}" destId="{46DAD0AB-746A-43F4-A1E0-B74034D8FA38}" srcOrd="3" destOrd="0" presId="urn:microsoft.com/office/officeart/2018/2/layout/IconVerticalSolidList"/>
    <dgm:cxn modelId="{2E11ABDD-13A0-41B6-9161-F2BE3FC97E33}" type="presParOf" srcId="{71EC48C0-F59D-4579-9B02-44C0655B6A86}" destId="{6AF2C2E6-8A5E-454D-B43B-7B9C02C8F0DF}" srcOrd="4" destOrd="0" presId="urn:microsoft.com/office/officeart/2018/2/layout/IconVerticalSolidList"/>
    <dgm:cxn modelId="{35CC81FB-5644-4B5C-B38F-5B9F7ECE143C}" type="presParOf" srcId="{6AF2C2E6-8A5E-454D-B43B-7B9C02C8F0DF}" destId="{C912A8D8-F978-418D-9BE4-9DF08E56102B}" srcOrd="0" destOrd="0" presId="urn:microsoft.com/office/officeart/2018/2/layout/IconVerticalSolidList"/>
    <dgm:cxn modelId="{FECB892A-FCB1-493B-B2EB-8B829B2398E7}" type="presParOf" srcId="{6AF2C2E6-8A5E-454D-B43B-7B9C02C8F0DF}" destId="{F59374BB-C28D-422B-899E-8BCFD197BCB0}" srcOrd="1" destOrd="0" presId="urn:microsoft.com/office/officeart/2018/2/layout/IconVerticalSolidList"/>
    <dgm:cxn modelId="{598146DD-FBA0-4D9D-BF32-5D485D8DCB5D}" type="presParOf" srcId="{6AF2C2E6-8A5E-454D-B43B-7B9C02C8F0DF}" destId="{AD4DDD6C-136C-4926-A6AF-9B82A7D095B4}" srcOrd="2" destOrd="0" presId="urn:microsoft.com/office/officeart/2018/2/layout/IconVerticalSolidList"/>
    <dgm:cxn modelId="{454206B6-F7A9-4C39-88DF-CA57E426118E}" type="presParOf" srcId="{6AF2C2E6-8A5E-454D-B43B-7B9C02C8F0DF}" destId="{8969FAC9-0EA9-4AE3-81FC-9B18616B48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DF089F-366D-4997-8493-EEB84ADECD1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E9D23AC-2BA5-47EE-A0E5-B0F5E6396D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Define a workspace, reports, SM, naming convention and enforce it</a:t>
          </a:r>
        </a:p>
      </dgm:t>
    </dgm:pt>
    <dgm:pt modelId="{9B472DB1-417D-434F-9E2A-00AE28461B84}" type="parTrans" cxnId="{59BAF9DE-C1F6-4A86-AF90-038E3E47B181}">
      <dgm:prSet/>
      <dgm:spPr/>
      <dgm:t>
        <a:bodyPr/>
        <a:lstStyle/>
        <a:p>
          <a:endParaRPr lang="en-US"/>
        </a:p>
      </dgm:t>
    </dgm:pt>
    <dgm:pt modelId="{FEA31070-1E79-4BFE-AF15-097F7FB149B2}" type="sibTrans" cxnId="{59BAF9DE-C1F6-4A86-AF90-038E3E47B181}">
      <dgm:prSet/>
      <dgm:spPr/>
      <dgm:t>
        <a:bodyPr/>
        <a:lstStyle/>
        <a:p>
          <a:endParaRPr lang="en-US"/>
        </a:p>
      </dgm:t>
    </dgm:pt>
    <dgm:pt modelId="{77D0E36D-B57E-4534-A8EC-9F8F4E8435A0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 err="1"/>
            <a:t>Prepare</a:t>
          </a:r>
          <a:r>
            <a:rPr lang="cs-CZ" dirty="0"/>
            <a:t> and </a:t>
          </a:r>
          <a:r>
            <a:rPr lang="cs-CZ" dirty="0" err="1"/>
            <a:t>certify</a:t>
          </a:r>
          <a:r>
            <a:rPr lang="cs-CZ" dirty="0"/>
            <a:t> </a:t>
          </a:r>
          <a:r>
            <a:rPr lang="cs-CZ" dirty="0" err="1"/>
            <a:t>your</a:t>
          </a:r>
          <a:r>
            <a:rPr lang="cs-CZ" dirty="0"/>
            <a:t> </a:t>
          </a:r>
          <a:r>
            <a:rPr lang="cs-CZ" dirty="0" err="1"/>
            <a:t>core</a:t>
          </a:r>
          <a:r>
            <a:rPr lang="cs-CZ" dirty="0"/>
            <a:t> </a:t>
          </a:r>
          <a:r>
            <a:rPr lang="cs-CZ" dirty="0" err="1"/>
            <a:t>semantic</a:t>
          </a:r>
          <a:r>
            <a:rPr lang="cs-CZ" dirty="0"/>
            <a:t> </a:t>
          </a:r>
          <a:r>
            <a:rPr lang="cs-CZ" dirty="0" err="1"/>
            <a:t>moels</a:t>
          </a:r>
          <a:endParaRPr lang="en-US" dirty="0"/>
        </a:p>
      </dgm:t>
    </dgm:pt>
    <dgm:pt modelId="{3B99FCE5-432B-421B-BDB4-7E2A71B6A02D}" type="parTrans" cxnId="{060CECC3-667C-4AED-A0A2-2573DC8BA416}">
      <dgm:prSet/>
      <dgm:spPr/>
      <dgm:t>
        <a:bodyPr/>
        <a:lstStyle/>
        <a:p>
          <a:endParaRPr lang="en-US"/>
        </a:p>
      </dgm:t>
    </dgm:pt>
    <dgm:pt modelId="{9B54159D-29DE-4E45-A123-7F6DD3ED12BE}" type="sibTrans" cxnId="{060CECC3-667C-4AED-A0A2-2573DC8BA416}">
      <dgm:prSet/>
      <dgm:spPr/>
      <dgm:t>
        <a:bodyPr/>
        <a:lstStyle/>
        <a:p>
          <a:endParaRPr lang="en-US"/>
        </a:p>
      </dgm:t>
    </dgm:pt>
    <dgm:pt modelId="{EF793C89-BA71-40AD-822B-6BBDF57844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</a:t>
          </a:r>
          <a:r>
            <a:rPr lang="cs-CZ" dirty="0"/>
            <a:t>Data </a:t>
          </a:r>
          <a:r>
            <a:rPr lang="cs-CZ" dirty="0" err="1"/>
            <a:t>Stewards</a:t>
          </a:r>
          <a:r>
            <a:rPr lang="cs-CZ" dirty="0"/>
            <a:t> </a:t>
          </a:r>
          <a:r>
            <a:rPr lang="en-US" dirty="0"/>
            <a:t>in key business units</a:t>
          </a:r>
        </a:p>
      </dgm:t>
    </dgm:pt>
    <dgm:pt modelId="{639CF0CE-893D-4E5B-A086-8987AD868D96}" type="parTrans" cxnId="{DEEC1F3E-404E-4C10-8405-47B6A9D56FB6}">
      <dgm:prSet/>
      <dgm:spPr/>
      <dgm:t>
        <a:bodyPr/>
        <a:lstStyle/>
        <a:p>
          <a:endParaRPr lang="en-US"/>
        </a:p>
      </dgm:t>
    </dgm:pt>
    <dgm:pt modelId="{3281B55A-F93C-44C8-B085-BFDB85FBD632}" type="sibTrans" cxnId="{DEEC1F3E-404E-4C10-8405-47B6A9D56FB6}">
      <dgm:prSet/>
      <dgm:spPr/>
      <dgm:t>
        <a:bodyPr/>
        <a:lstStyle/>
        <a:p>
          <a:endParaRPr lang="en-US"/>
        </a:p>
      </dgm:t>
    </dgm:pt>
    <dgm:pt modelId="{6F64C85D-DA65-4946-B493-2FD9E7284A83}" type="pres">
      <dgm:prSet presAssocID="{CADF089F-366D-4997-8493-EEB84ADECD1F}" presName="root" presStyleCnt="0">
        <dgm:presLayoutVars>
          <dgm:dir/>
          <dgm:resizeHandles val="exact"/>
        </dgm:presLayoutVars>
      </dgm:prSet>
      <dgm:spPr/>
    </dgm:pt>
    <dgm:pt modelId="{CD485D2E-6FD6-4A54-A672-2827FB3793D7}" type="pres">
      <dgm:prSet presAssocID="{5E9D23AC-2BA5-47EE-A0E5-B0F5E6396DE5}" presName="compNode" presStyleCnt="0"/>
      <dgm:spPr/>
    </dgm:pt>
    <dgm:pt modelId="{9D4EE0A4-D54A-4CFB-B8DA-06C78C3C0575}" type="pres">
      <dgm:prSet presAssocID="{5E9D23AC-2BA5-47EE-A0E5-B0F5E6396DE5}" presName="bgRect" presStyleLbl="bgShp" presStyleIdx="0" presStyleCnt="3"/>
      <dgm:spPr/>
    </dgm:pt>
    <dgm:pt modelId="{852E75CF-F41C-4BC5-8C8F-E5D3376D6AB6}" type="pres">
      <dgm:prSet presAssocID="{5E9D23AC-2BA5-47EE-A0E5-B0F5E6396DE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40A384D-8A17-400F-B6E1-B75DD49C1645}" type="pres">
      <dgm:prSet presAssocID="{5E9D23AC-2BA5-47EE-A0E5-B0F5E6396DE5}" presName="spaceRect" presStyleCnt="0"/>
      <dgm:spPr/>
    </dgm:pt>
    <dgm:pt modelId="{C10B031B-610D-4F31-91EA-75D49F82377F}" type="pres">
      <dgm:prSet presAssocID="{5E9D23AC-2BA5-47EE-A0E5-B0F5E6396DE5}" presName="parTx" presStyleLbl="revTx" presStyleIdx="0" presStyleCnt="3">
        <dgm:presLayoutVars>
          <dgm:chMax val="0"/>
          <dgm:chPref val="0"/>
        </dgm:presLayoutVars>
      </dgm:prSet>
      <dgm:spPr/>
    </dgm:pt>
    <dgm:pt modelId="{19D12B8C-95C6-48B8-BB3C-2296070ACEC8}" type="pres">
      <dgm:prSet presAssocID="{FEA31070-1E79-4BFE-AF15-097F7FB149B2}" presName="sibTrans" presStyleCnt="0"/>
      <dgm:spPr/>
    </dgm:pt>
    <dgm:pt modelId="{C6C78E56-C04C-4D19-A4DD-571D879255B7}" type="pres">
      <dgm:prSet presAssocID="{77D0E36D-B57E-4534-A8EC-9F8F4E8435A0}" presName="compNode" presStyleCnt="0"/>
      <dgm:spPr/>
    </dgm:pt>
    <dgm:pt modelId="{CBFB1F1E-91DD-4CBD-B411-0C992F743532}" type="pres">
      <dgm:prSet presAssocID="{77D0E36D-B57E-4534-A8EC-9F8F4E8435A0}" presName="bgRect" presStyleLbl="bgShp" presStyleIdx="1" presStyleCnt="3"/>
      <dgm:spPr/>
    </dgm:pt>
    <dgm:pt modelId="{58DFC4C7-0C87-49AF-8706-1EA9C532C67C}" type="pres">
      <dgm:prSet presAssocID="{77D0E36D-B57E-4534-A8EC-9F8F4E8435A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uha"/>
        </a:ext>
      </dgm:extLst>
    </dgm:pt>
    <dgm:pt modelId="{786D135F-1885-435E-AC86-8E0DA9754B18}" type="pres">
      <dgm:prSet presAssocID="{77D0E36D-B57E-4534-A8EC-9F8F4E8435A0}" presName="spaceRect" presStyleCnt="0"/>
      <dgm:spPr/>
    </dgm:pt>
    <dgm:pt modelId="{F6E3C8B9-1CB6-463C-8DE5-705E2D1DCC61}" type="pres">
      <dgm:prSet presAssocID="{77D0E36D-B57E-4534-A8EC-9F8F4E8435A0}" presName="parTx" presStyleLbl="revTx" presStyleIdx="1" presStyleCnt="3">
        <dgm:presLayoutVars>
          <dgm:chMax val="0"/>
          <dgm:chPref val="0"/>
        </dgm:presLayoutVars>
      </dgm:prSet>
      <dgm:spPr/>
    </dgm:pt>
    <dgm:pt modelId="{FECBDC6E-DC80-4382-905B-DFB8A8E46DBE}" type="pres">
      <dgm:prSet presAssocID="{9B54159D-29DE-4E45-A123-7F6DD3ED12BE}" presName="sibTrans" presStyleCnt="0"/>
      <dgm:spPr/>
    </dgm:pt>
    <dgm:pt modelId="{7B3295C1-016C-4738-BBB5-2DFEE064A6D5}" type="pres">
      <dgm:prSet presAssocID="{EF793C89-BA71-40AD-822B-6BBDF57844DB}" presName="compNode" presStyleCnt="0"/>
      <dgm:spPr/>
    </dgm:pt>
    <dgm:pt modelId="{C5379336-10A0-41CF-943B-1184523401F2}" type="pres">
      <dgm:prSet presAssocID="{EF793C89-BA71-40AD-822B-6BBDF57844DB}" presName="bgRect" presStyleLbl="bgShp" presStyleIdx="2" presStyleCnt="3"/>
      <dgm:spPr/>
    </dgm:pt>
    <dgm:pt modelId="{6FFFB820-F01E-4868-9E79-5473F7EC9DFD}" type="pres">
      <dgm:prSet presAssocID="{EF793C89-BA71-40AD-822B-6BBDF57844D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8B5B85A-C341-47CF-8C04-F7347206B8CC}" type="pres">
      <dgm:prSet presAssocID="{EF793C89-BA71-40AD-822B-6BBDF57844DB}" presName="spaceRect" presStyleCnt="0"/>
      <dgm:spPr/>
    </dgm:pt>
    <dgm:pt modelId="{03A85C3B-DFE9-4ACF-B9D4-C02002C22192}" type="pres">
      <dgm:prSet presAssocID="{EF793C89-BA71-40AD-822B-6BBDF57844D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48101C-CBD8-4C71-ADD7-BB5CEE330E92}" type="presOf" srcId="{CADF089F-366D-4997-8493-EEB84ADECD1F}" destId="{6F64C85D-DA65-4946-B493-2FD9E7284A83}" srcOrd="0" destOrd="0" presId="urn:microsoft.com/office/officeart/2018/2/layout/IconVerticalSolidList"/>
    <dgm:cxn modelId="{DEEC1F3E-404E-4C10-8405-47B6A9D56FB6}" srcId="{CADF089F-366D-4997-8493-EEB84ADECD1F}" destId="{EF793C89-BA71-40AD-822B-6BBDF57844DB}" srcOrd="2" destOrd="0" parTransId="{639CF0CE-893D-4E5B-A086-8987AD868D96}" sibTransId="{3281B55A-F93C-44C8-B085-BFDB85FBD632}"/>
    <dgm:cxn modelId="{1E9C8BA3-67F3-41C9-972F-17F9804E9E9B}" type="presOf" srcId="{5E9D23AC-2BA5-47EE-A0E5-B0F5E6396DE5}" destId="{C10B031B-610D-4F31-91EA-75D49F82377F}" srcOrd="0" destOrd="0" presId="urn:microsoft.com/office/officeart/2018/2/layout/IconVerticalSolidList"/>
    <dgm:cxn modelId="{F34646BD-7B00-405B-B3BC-9D33880E9B02}" type="presOf" srcId="{EF793C89-BA71-40AD-822B-6BBDF57844DB}" destId="{03A85C3B-DFE9-4ACF-B9D4-C02002C22192}" srcOrd="0" destOrd="0" presId="urn:microsoft.com/office/officeart/2018/2/layout/IconVerticalSolidList"/>
    <dgm:cxn modelId="{060CECC3-667C-4AED-A0A2-2573DC8BA416}" srcId="{CADF089F-366D-4997-8493-EEB84ADECD1F}" destId="{77D0E36D-B57E-4534-A8EC-9F8F4E8435A0}" srcOrd="1" destOrd="0" parTransId="{3B99FCE5-432B-421B-BDB4-7E2A71B6A02D}" sibTransId="{9B54159D-29DE-4E45-A123-7F6DD3ED12BE}"/>
    <dgm:cxn modelId="{59BAF9DE-C1F6-4A86-AF90-038E3E47B181}" srcId="{CADF089F-366D-4997-8493-EEB84ADECD1F}" destId="{5E9D23AC-2BA5-47EE-A0E5-B0F5E6396DE5}" srcOrd="0" destOrd="0" parTransId="{9B472DB1-417D-434F-9E2A-00AE28461B84}" sibTransId="{FEA31070-1E79-4BFE-AF15-097F7FB149B2}"/>
    <dgm:cxn modelId="{E90FCDE9-C06D-4420-A13D-ECBA34B9D7E1}" type="presOf" srcId="{77D0E36D-B57E-4534-A8EC-9F8F4E8435A0}" destId="{F6E3C8B9-1CB6-463C-8DE5-705E2D1DCC61}" srcOrd="0" destOrd="0" presId="urn:microsoft.com/office/officeart/2018/2/layout/IconVerticalSolidList"/>
    <dgm:cxn modelId="{3CFFFDD3-0A8D-4850-BAA0-C57BB37F0DF3}" type="presParOf" srcId="{6F64C85D-DA65-4946-B493-2FD9E7284A83}" destId="{CD485D2E-6FD6-4A54-A672-2827FB3793D7}" srcOrd="0" destOrd="0" presId="urn:microsoft.com/office/officeart/2018/2/layout/IconVerticalSolidList"/>
    <dgm:cxn modelId="{7FBD2C12-1B3B-444A-8539-D5BB786CDD48}" type="presParOf" srcId="{CD485D2E-6FD6-4A54-A672-2827FB3793D7}" destId="{9D4EE0A4-D54A-4CFB-B8DA-06C78C3C0575}" srcOrd="0" destOrd="0" presId="urn:microsoft.com/office/officeart/2018/2/layout/IconVerticalSolidList"/>
    <dgm:cxn modelId="{4A23D4D2-A057-493C-A753-D1D2691D48F9}" type="presParOf" srcId="{CD485D2E-6FD6-4A54-A672-2827FB3793D7}" destId="{852E75CF-F41C-4BC5-8C8F-E5D3376D6AB6}" srcOrd="1" destOrd="0" presId="urn:microsoft.com/office/officeart/2018/2/layout/IconVerticalSolidList"/>
    <dgm:cxn modelId="{AFF3B37C-9EB7-41EA-A135-9B6369DF58C8}" type="presParOf" srcId="{CD485D2E-6FD6-4A54-A672-2827FB3793D7}" destId="{040A384D-8A17-400F-B6E1-B75DD49C1645}" srcOrd="2" destOrd="0" presId="urn:microsoft.com/office/officeart/2018/2/layout/IconVerticalSolidList"/>
    <dgm:cxn modelId="{D8AB3C2A-8A5D-41CD-8763-845BB74166B7}" type="presParOf" srcId="{CD485D2E-6FD6-4A54-A672-2827FB3793D7}" destId="{C10B031B-610D-4F31-91EA-75D49F82377F}" srcOrd="3" destOrd="0" presId="urn:microsoft.com/office/officeart/2018/2/layout/IconVerticalSolidList"/>
    <dgm:cxn modelId="{E7DB329A-963D-4CCB-A4C8-9F732CB14A66}" type="presParOf" srcId="{6F64C85D-DA65-4946-B493-2FD9E7284A83}" destId="{19D12B8C-95C6-48B8-BB3C-2296070ACEC8}" srcOrd="1" destOrd="0" presId="urn:microsoft.com/office/officeart/2018/2/layout/IconVerticalSolidList"/>
    <dgm:cxn modelId="{9B7C5EA6-9F61-4F8D-983C-21AA45830734}" type="presParOf" srcId="{6F64C85D-DA65-4946-B493-2FD9E7284A83}" destId="{C6C78E56-C04C-4D19-A4DD-571D879255B7}" srcOrd="2" destOrd="0" presId="urn:microsoft.com/office/officeart/2018/2/layout/IconVerticalSolidList"/>
    <dgm:cxn modelId="{5B9FAB6C-1FE1-49E5-B40B-A3284618DF6E}" type="presParOf" srcId="{C6C78E56-C04C-4D19-A4DD-571D879255B7}" destId="{CBFB1F1E-91DD-4CBD-B411-0C992F743532}" srcOrd="0" destOrd="0" presId="urn:microsoft.com/office/officeart/2018/2/layout/IconVerticalSolidList"/>
    <dgm:cxn modelId="{A3CD6971-781F-448B-ABFE-2A041360F869}" type="presParOf" srcId="{C6C78E56-C04C-4D19-A4DD-571D879255B7}" destId="{58DFC4C7-0C87-49AF-8706-1EA9C532C67C}" srcOrd="1" destOrd="0" presId="urn:microsoft.com/office/officeart/2018/2/layout/IconVerticalSolidList"/>
    <dgm:cxn modelId="{6C30090C-7D88-40DF-ADE8-5989281D68C8}" type="presParOf" srcId="{C6C78E56-C04C-4D19-A4DD-571D879255B7}" destId="{786D135F-1885-435E-AC86-8E0DA9754B18}" srcOrd="2" destOrd="0" presId="urn:microsoft.com/office/officeart/2018/2/layout/IconVerticalSolidList"/>
    <dgm:cxn modelId="{85F26942-919A-4577-9547-77B4BC59ABF2}" type="presParOf" srcId="{C6C78E56-C04C-4D19-A4DD-571D879255B7}" destId="{F6E3C8B9-1CB6-463C-8DE5-705E2D1DCC61}" srcOrd="3" destOrd="0" presId="urn:microsoft.com/office/officeart/2018/2/layout/IconVerticalSolidList"/>
    <dgm:cxn modelId="{2AE031E6-5D1B-4B46-B8AF-4702B13119C8}" type="presParOf" srcId="{6F64C85D-DA65-4946-B493-2FD9E7284A83}" destId="{FECBDC6E-DC80-4382-905B-DFB8A8E46DBE}" srcOrd="3" destOrd="0" presId="urn:microsoft.com/office/officeart/2018/2/layout/IconVerticalSolidList"/>
    <dgm:cxn modelId="{8F064D10-E950-4DBB-AD57-A4378AC1F191}" type="presParOf" srcId="{6F64C85D-DA65-4946-B493-2FD9E7284A83}" destId="{7B3295C1-016C-4738-BBB5-2DFEE064A6D5}" srcOrd="4" destOrd="0" presId="urn:microsoft.com/office/officeart/2018/2/layout/IconVerticalSolidList"/>
    <dgm:cxn modelId="{87B8CE09-B388-4FB2-B452-BB37A8F35A9D}" type="presParOf" srcId="{7B3295C1-016C-4738-BBB5-2DFEE064A6D5}" destId="{C5379336-10A0-41CF-943B-1184523401F2}" srcOrd="0" destOrd="0" presId="urn:microsoft.com/office/officeart/2018/2/layout/IconVerticalSolidList"/>
    <dgm:cxn modelId="{F9AEFCFD-E2C9-4D4A-9838-527A3DB2F1A9}" type="presParOf" srcId="{7B3295C1-016C-4738-BBB5-2DFEE064A6D5}" destId="{6FFFB820-F01E-4868-9E79-5473F7EC9DFD}" srcOrd="1" destOrd="0" presId="urn:microsoft.com/office/officeart/2018/2/layout/IconVerticalSolidList"/>
    <dgm:cxn modelId="{C2A8824F-D1A5-4108-883F-DFE31364F779}" type="presParOf" srcId="{7B3295C1-016C-4738-BBB5-2DFEE064A6D5}" destId="{38B5B85A-C341-47CF-8C04-F7347206B8CC}" srcOrd="2" destOrd="0" presId="urn:microsoft.com/office/officeart/2018/2/layout/IconVerticalSolidList"/>
    <dgm:cxn modelId="{0ABB8CE9-72D0-4C00-A89B-00A37981363C}" type="presParOf" srcId="{7B3295C1-016C-4738-BBB5-2DFEE064A6D5}" destId="{03A85C3B-DFE9-4ACF-B9D4-C02002C221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2ECC8-48D9-4C86-A3B1-84121A5934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EC151B6-BFBB-40A9-AEEE-87AC3E8F9EF9}">
      <dgm:prSet/>
      <dgm:spPr/>
      <dgm:t>
        <a:bodyPr/>
        <a:lstStyle/>
        <a:p>
          <a:r>
            <a:rPr lang="en-US" dirty="0"/>
            <a:t>Implement governance step by step</a:t>
          </a:r>
        </a:p>
      </dgm:t>
    </dgm:pt>
    <dgm:pt modelId="{766D60BB-3C4E-4240-86AC-B1454A5C874B}" type="parTrans" cxnId="{E89C747A-5418-461D-A7C5-E24EBCF71121}">
      <dgm:prSet/>
      <dgm:spPr/>
      <dgm:t>
        <a:bodyPr/>
        <a:lstStyle/>
        <a:p>
          <a:endParaRPr lang="en-US"/>
        </a:p>
      </dgm:t>
    </dgm:pt>
    <dgm:pt modelId="{0F7DB508-BA14-4682-A288-919B6A69D0E6}" type="sibTrans" cxnId="{E89C747A-5418-461D-A7C5-E24EBCF71121}">
      <dgm:prSet/>
      <dgm:spPr/>
      <dgm:t>
        <a:bodyPr/>
        <a:lstStyle/>
        <a:p>
          <a:endParaRPr lang="en-US"/>
        </a:p>
      </dgm:t>
    </dgm:pt>
    <dgm:pt modelId="{FDA5241B-1DE5-4A94-AE77-7B35BFD3BB7A}">
      <dgm:prSet/>
      <dgm:spPr/>
      <dgm:t>
        <a:bodyPr/>
        <a:lstStyle/>
        <a:p>
          <a:r>
            <a:rPr lang="en-US"/>
            <a:t>Deploy Row-Level Security on sensitive datasets</a:t>
          </a:r>
        </a:p>
      </dgm:t>
    </dgm:pt>
    <dgm:pt modelId="{261C974A-4838-46BE-B739-B76B69B2123A}" type="parTrans" cxnId="{9AFFBCC9-561F-411B-B62D-10EA7EB37CB7}">
      <dgm:prSet/>
      <dgm:spPr/>
      <dgm:t>
        <a:bodyPr/>
        <a:lstStyle/>
        <a:p>
          <a:endParaRPr lang="en-US"/>
        </a:p>
      </dgm:t>
    </dgm:pt>
    <dgm:pt modelId="{C52E0B66-5738-4816-8C80-618F982B043D}" type="sibTrans" cxnId="{9AFFBCC9-561F-411B-B62D-10EA7EB37CB7}">
      <dgm:prSet/>
      <dgm:spPr/>
      <dgm:t>
        <a:bodyPr/>
        <a:lstStyle/>
        <a:p>
          <a:endParaRPr lang="en-US"/>
        </a:p>
      </dgm:t>
    </dgm:pt>
    <dgm:pt modelId="{B7688556-7EAD-4778-8F5E-EE8BC3BDCAC6}">
      <dgm:prSet/>
      <dgm:spPr/>
      <dgm:t>
        <a:bodyPr/>
        <a:lstStyle/>
        <a:p>
          <a:r>
            <a:rPr lang="en-US"/>
            <a:t>Define and publish your endorsement process</a:t>
          </a:r>
        </a:p>
      </dgm:t>
    </dgm:pt>
    <dgm:pt modelId="{25EE5669-6D37-4E67-B5B0-44FE3589E0D8}" type="parTrans" cxnId="{BB850F99-179F-4396-904C-5595257702B7}">
      <dgm:prSet/>
      <dgm:spPr/>
      <dgm:t>
        <a:bodyPr/>
        <a:lstStyle/>
        <a:p>
          <a:endParaRPr lang="en-US"/>
        </a:p>
      </dgm:t>
    </dgm:pt>
    <dgm:pt modelId="{7C9A23A4-4A5F-426B-AEED-2B79F0C1F198}" type="sibTrans" cxnId="{BB850F99-179F-4396-904C-5595257702B7}">
      <dgm:prSet/>
      <dgm:spPr/>
      <dgm:t>
        <a:bodyPr/>
        <a:lstStyle/>
        <a:p>
          <a:endParaRPr lang="en-US"/>
        </a:p>
      </dgm:t>
    </dgm:pt>
    <dgm:pt modelId="{1B54CEDF-B763-4754-84CB-E068C505DE35}">
      <dgm:prSet/>
      <dgm:spPr/>
      <dgm:t>
        <a:bodyPr/>
        <a:lstStyle/>
        <a:p>
          <a:r>
            <a:rPr lang="en-US" b="0" dirty="0"/>
            <a:t>The rule: Fix what's broken first. Build what's missing second.</a:t>
          </a:r>
        </a:p>
      </dgm:t>
    </dgm:pt>
    <dgm:pt modelId="{0345558F-CA60-4C16-85F4-8D6B149ECF7F}" type="parTrans" cxnId="{61AC9FC2-3A6E-4754-8976-A281B2A0AFC1}">
      <dgm:prSet/>
      <dgm:spPr/>
      <dgm:t>
        <a:bodyPr/>
        <a:lstStyle/>
        <a:p>
          <a:endParaRPr lang="en-US"/>
        </a:p>
      </dgm:t>
    </dgm:pt>
    <dgm:pt modelId="{E1682919-A554-4711-BE83-A6CCE8C5B9E1}" type="sibTrans" cxnId="{61AC9FC2-3A6E-4754-8976-A281B2A0AFC1}">
      <dgm:prSet/>
      <dgm:spPr/>
      <dgm:t>
        <a:bodyPr/>
        <a:lstStyle/>
        <a:p>
          <a:endParaRPr lang="en-US"/>
        </a:p>
      </dgm:t>
    </dgm:pt>
    <dgm:pt modelId="{2A6AE6E0-1864-4BFB-83F7-BA8B3BB0B5FC}" type="pres">
      <dgm:prSet presAssocID="{FC42ECC8-48D9-4C86-A3B1-84121A593479}" presName="root" presStyleCnt="0">
        <dgm:presLayoutVars>
          <dgm:dir/>
          <dgm:resizeHandles val="exact"/>
        </dgm:presLayoutVars>
      </dgm:prSet>
      <dgm:spPr/>
    </dgm:pt>
    <dgm:pt modelId="{EA827409-BA18-4A20-B183-56798F2C002B}" type="pres">
      <dgm:prSet presAssocID="{CEC151B6-BFBB-40A9-AEEE-87AC3E8F9EF9}" presName="compNode" presStyleCnt="0"/>
      <dgm:spPr/>
    </dgm:pt>
    <dgm:pt modelId="{1187256F-EEF9-4A05-B179-39A33E975287}" type="pres">
      <dgm:prSet presAssocID="{CEC151B6-BFBB-40A9-AEEE-87AC3E8F9EF9}" presName="bgRect" presStyleLbl="bgShp" presStyleIdx="0" presStyleCnt="4"/>
      <dgm:spPr/>
    </dgm:pt>
    <dgm:pt modelId="{915AFFD0-E792-454A-9705-43848BC248E7}" type="pres">
      <dgm:prSet presAssocID="{CEC151B6-BFBB-40A9-AEEE-87AC3E8F9EF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živatel"/>
        </a:ext>
      </dgm:extLst>
    </dgm:pt>
    <dgm:pt modelId="{3DE8F27D-1B96-486D-92C3-37F8B0CFFCE9}" type="pres">
      <dgm:prSet presAssocID="{CEC151B6-BFBB-40A9-AEEE-87AC3E8F9EF9}" presName="spaceRect" presStyleCnt="0"/>
      <dgm:spPr/>
    </dgm:pt>
    <dgm:pt modelId="{1DC0DC14-BF98-42AB-9F87-E7ADB45CD4EB}" type="pres">
      <dgm:prSet presAssocID="{CEC151B6-BFBB-40A9-AEEE-87AC3E8F9EF9}" presName="parTx" presStyleLbl="revTx" presStyleIdx="0" presStyleCnt="4">
        <dgm:presLayoutVars>
          <dgm:chMax val="0"/>
          <dgm:chPref val="0"/>
        </dgm:presLayoutVars>
      </dgm:prSet>
      <dgm:spPr/>
    </dgm:pt>
    <dgm:pt modelId="{EE8114EB-EC64-48AD-85EB-EFDAB283A049}" type="pres">
      <dgm:prSet presAssocID="{0F7DB508-BA14-4682-A288-919B6A69D0E6}" presName="sibTrans" presStyleCnt="0"/>
      <dgm:spPr/>
    </dgm:pt>
    <dgm:pt modelId="{0DED7B83-4FBB-4C8B-BCFA-C24211B430C9}" type="pres">
      <dgm:prSet presAssocID="{FDA5241B-1DE5-4A94-AE77-7B35BFD3BB7A}" presName="compNode" presStyleCnt="0"/>
      <dgm:spPr/>
    </dgm:pt>
    <dgm:pt modelId="{EAC0BD48-99F7-43D9-9F9C-3F98FD4F1E8A}" type="pres">
      <dgm:prSet presAssocID="{FDA5241B-1DE5-4A94-AE77-7B35BFD3BB7A}" presName="bgRect" presStyleLbl="bgShp" presStyleIdx="1" presStyleCnt="4"/>
      <dgm:spPr/>
    </dgm:pt>
    <dgm:pt modelId="{DA9D9C93-4F93-4904-BC2D-37BBE09F6C79}" type="pres">
      <dgm:prSet presAssocID="{FDA5241B-1DE5-4A94-AE77-7B35BFD3BB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áze"/>
        </a:ext>
      </dgm:extLst>
    </dgm:pt>
    <dgm:pt modelId="{E0EF082D-0876-4596-A5D9-47417C0C78D8}" type="pres">
      <dgm:prSet presAssocID="{FDA5241B-1DE5-4A94-AE77-7B35BFD3BB7A}" presName="spaceRect" presStyleCnt="0"/>
      <dgm:spPr/>
    </dgm:pt>
    <dgm:pt modelId="{455B0228-D54F-4D95-B13F-DD59A462F9F3}" type="pres">
      <dgm:prSet presAssocID="{FDA5241B-1DE5-4A94-AE77-7B35BFD3BB7A}" presName="parTx" presStyleLbl="revTx" presStyleIdx="1" presStyleCnt="4">
        <dgm:presLayoutVars>
          <dgm:chMax val="0"/>
          <dgm:chPref val="0"/>
        </dgm:presLayoutVars>
      </dgm:prSet>
      <dgm:spPr/>
    </dgm:pt>
    <dgm:pt modelId="{7E0E9467-8838-4DA3-B4F5-301F7D53C86E}" type="pres">
      <dgm:prSet presAssocID="{C52E0B66-5738-4816-8C80-618F982B043D}" presName="sibTrans" presStyleCnt="0"/>
      <dgm:spPr/>
    </dgm:pt>
    <dgm:pt modelId="{D0DBD7AA-2C97-4200-9336-C521D9A29753}" type="pres">
      <dgm:prSet presAssocID="{B7688556-7EAD-4778-8F5E-EE8BC3BDCAC6}" presName="compNode" presStyleCnt="0"/>
      <dgm:spPr/>
    </dgm:pt>
    <dgm:pt modelId="{A1ED0259-321C-43B9-A691-A3EC6D65B5CC}" type="pres">
      <dgm:prSet presAssocID="{B7688556-7EAD-4778-8F5E-EE8BC3BDCAC6}" presName="bgRect" presStyleLbl="bgShp" presStyleIdx="2" presStyleCnt="4"/>
      <dgm:spPr/>
    </dgm:pt>
    <dgm:pt modelId="{4B4B2479-BDE0-4840-BF46-C799A95F2A2C}" type="pres">
      <dgm:prSet presAssocID="{B7688556-7EAD-4778-8F5E-EE8BC3BDCAC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ní seznam"/>
        </a:ext>
      </dgm:extLst>
    </dgm:pt>
    <dgm:pt modelId="{DF119CEF-F6D5-4B6A-8DA5-E351F2D0CAFE}" type="pres">
      <dgm:prSet presAssocID="{B7688556-7EAD-4778-8F5E-EE8BC3BDCAC6}" presName="spaceRect" presStyleCnt="0"/>
      <dgm:spPr/>
    </dgm:pt>
    <dgm:pt modelId="{59C3332A-5EDD-4839-9CD7-38F73A187C83}" type="pres">
      <dgm:prSet presAssocID="{B7688556-7EAD-4778-8F5E-EE8BC3BDCAC6}" presName="parTx" presStyleLbl="revTx" presStyleIdx="2" presStyleCnt="4">
        <dgm:presLayoutVars>
          <dgm:chMax val="0"/>
          <dgm:chPref val="0"/>
        </dgm:presLayoutVars>
      </dgm:prSet>
      <dgm:spPr/>
    </dgm:pt>
    <dgm:pt modelId="{EC3C5C74-62F0-4970-8C97-AB09E4D8CAE0}" type="pres">
      <dgm:prSet presAssocID="{7C9A23A4-4A5F-426B-AEED-2B79F0C1F198}" presName="sibTrans" presStyleCnt="0"/>
      <dgm:spPr/>
    </dgm:pt>
    <dgm:pt modelId="{E6C579E1-2501-41F9-B5BD-3EBDEB4ED120}" type="pres">
      <dgm:prSet presAssocID="{1B54CEDF-B763-4754-84CB-E068C505DE35}" presName="compNode" presStyleCnt="0"/>
      <dgm:spPr/>
    </dgm:pt>
    <dgm:pt modelId="{0778F852-F8BF-4C1B-ADD1-B00133B17E9E}" type="pres">
      <dgm:prSet presAssocID="{1B54CEDF-B763-4754-84CB-E068C505DE35}" presName="bgRect" presStyleLbl="bgShp" presStyleIdx="3" presStyleCnt="4"/>
      <dgm:spPr/>
    </dgm:pt>
    <dgm:pt modelId="{0C1CBBBE-9836-40D2-9223-8E9034B8DBD9}" type="pres">
      <dgm:prSet presAssocID="{1B54CEDF-B763-4754-84CB-E068C505DE3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dozer"/>
        </a:ext>
      </dgm:extLst>
    </dgm:pt>
    <dgm:pt modelId="{BDF2BDC6-FB5C-4B97-9D1A-A4E01C5B17E3}" type="pres">
      <dgm:prSet presAssocID="{1B54CEDF-B763-4754-84CB-E068C505DE35}" presName="spaceRect" presStyleCnt="0"/>
      <dgm:spPr/>
    </dgm:pt>
    <dgm:pt modelId="{3BD91AA7-77B0-4511-9963-992EDA95BEFC}" type="pres">
      <dgm:prSet presAssocID="{1B54CEDF-B763-4754-84CB-E068C505DE3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D10B93B-4CCE-432F-A300-A1EDC24D799E}" type="presOf" srcId="{FC42ECC8-48D9-4C86-A3B1-84121A593479}" destId="{2A6AE6E0-1864-4BFB-83F7-BA8B3BB0B5FC}" srcOrd="0" destOrd="0" presId="urn:microsoft.com/office/officeart/2018/2/layout/IconVerticalSolidList"/>
    <dgm:cxn modelId="{1E396349-44F7-4702-A3F5-DCF1C3F7BEE3}" type="presOf" srcId="{1B54CEDF-B763-4754-84CB-E068C505DE35}" destId="{3BD91AA7-77B0-4511-9963-992EDA95BEFC}" srcOrd="0" destOrd="0" presId="urn:microsoft.com/office/officeart/2018/2/layout/IconVerticalSolidList"/>
    <dgm:cxn modelId="{CB5BD771-E941-4C38-AC91-78D17E2611DA}" type="presOf" srcId="{B7688556-7EAD-4778-8F5E-EE8BC3BDCAC6}" destId="{59C3332A-5EDD-4839-9CD7-38F73A187C83}" srcOrd="0" destOrd="0" presId="urn:microsoft.com/office/officeart/2018/2/layout/IconVerticalSolidList"/>
    <dgm:cxn modelId="{F2E17458-993C-4599-B3C5-ABF48B870A2D}" type="presOf" srcId="{FDA5241B-1DE5-4A94-AE77-7B35BFD3BB7A}" destId="{455B0228-D54F-4D95-B13F-DD59A462F9F3}" srcOrd="0" destOrd="0" presId="urn:microsoft.com/office/officeart/2018/2/layout/IconVerticalSolidList"/>
    <dgm:cxn modelId="{E89C747A-5418-461D-A7C5-E24EBCF71121}" srcId="{FC42ECC8-48D9-4C86-A3B1-84121A593479}" destId="{CEC151B6-BFBB-40A9-AEEE-87AC3E8F9EF9}" srcOrd="0" destOrd="0" parTransId="{766D60BB-3C4E-4240-86AC-B1454A5C874B}" sibTransId="{0F7DB508-BA14-4682-A288-919B6A69D0E6}"/>
    <dgm:cxn modelId="{BB850F99-179F-4396-904C-5595257702B7}" srcId="{FC42ECC8-48D9-4C86-A3B1-84121A593479}" destId="{B7688556-7EAD-4778-8F5E-EE8BC3BDCAC6}" srcOrd="2" destOrd="0" parTransId="{25EE5669-6D37-4E67-B5B0-44FE3589E0D8}" sibTransId="{7C9A23A4-4A5F-426B-AEED-2B79F0C1F198}"/>
    <dgm:cxn modelId="{2D7FD6A8-8629-4569-A89B-6AACFDAFE588}" type="presOf" srcId="{CEC151B6-BFBB-40A9-AEEE-87AC3E8F9EF9}" destId="{1DC0DC14-BF98-42AB-9F87-E7ADB45CD4EB}" srcOrd="0" destOrd="0" presId="urn:microsoft.com/office/officeart/2018/2/layout/IconVerticalSolidList"/>
    <dgm:cxn modelId="{61AC9FC2-3A6E-4754-8976-A281B2A0AFC1}" srcId="{FC42ECC8-48D9-4C86-A3B1-84121A593479}" destId="{1B54CEDF-B763-4754-84CB-E068C505DE35}" srcOrd="3" destOrd="0" parTransId="{0345558F-CA60-4C16-85F4-8D6B149ECF7F}" sibTransId="{E1682919-A554-4711-BE83-A6CCE8C5B9E1}"/>
    <dgm:cxn modelId="{9AFFBCC9-561F-411B-B62D-10EA7EB37CB7}" srcId="{FC42ECC8-48D9-4C86-A3B1-84121A593479}" destId="{FDA5241B-1DE5-4A94-AE77-7B35BFD3BB7A}" srcOrd="1" destOrd="0" parTransId="{261C974A-4838-46BE-B739-B76B69B2123A}" sibTransId="{C52E0B66-5738-4816-8C80-618F982B043D}"/>
    <dgm:cxn modelId="{43E76E28-08BF-4407-82A2-9EE4B95CF8B9}" type="presParOf" srcId="{2A6AE6E0-1864-4BFB-83F7-BA8B3BB0B5FC}" destId="{EA827409-BA18-4A20-B183-56798F2C002B}" srcOrd="0" destOrd="0" presId="urn:microsoft.com/office/officeart/2018/2/layout/IconVerticalSolidList"/>
    <dgm:cxn modelId="{20EA81CD-FFAD-48CC-89E6-9DD35DC4BD4A}" type="presParOf" srcId="{EA827409-BA18-4A20-B183-56798F2C002B}" destId="{1187256F-EEF9-4A05-B179-39A33E975287}" srcOrd="0" destOrd="0" presId="urn:microsoft.com/office/officeart/2018/2/layout/IconVerticalSolidList"/>
    <dgm:cxn modelId="{EDFE0984-8741-4B10-B390-210DDBA87DBC}" type="presParOf" srcId="{EA827409-BA18-4A20-B183-56798F2C002B}" destId="{915AFFD0-E792-454A-9705-43848BC248E7}" srcOrd="1" destOrd="0" presId="urn:microsoft.com/office/officeart/2018/2/layout/IconVerticalSolidList"/>
    <dgm:cxn modelId="{DCF73225-3407-43A0-8C06-FB57D7CF82A4}" type="presParOf" srcId="{EA827409-BA18-4A20-B183-56798F2C002B}" destId="{3DE8F27D-1B96-486D-92C3-37F8B0CFFCE9}" srcOrd="2" destOrd="0" presId="urn:microsoft.com/office/officeart/2018/2/layout/IconVerticalSolidList"/>
    <dgm:cxn modelId="{FB44A9DC-1107-40DE-A1EF-C6FAD72EFBB6}" type="presParOf" srcId="{EA827409-BA18-4A20-B183-56798F2C002B}" destId="{1DC0DC14-BF98-42AB-9F87-E7ADB45CD4EB}" srcOrd="3" destOrd="0" presId="urn:microsoft.com/office/officeart/2018/2/layout/IconVerticalSolidList"/>
    <dgm:cxn modelId="{18224963-9BEC-41C9-8C46-83EE6A5E3656}" type="presParOf" srcId="{2A6AE6E0-1864-4BFB-83F7-BA8B3BB0B5FC}" destId="{EE8114EB-EC64-48AD-85EB-EFDAB283A049}" srcOrd="1" destOrd="0" presId="urn:microsoft.com/office/officeart/2018/2/layout/IconVerticalSolidList"/>
    <dgm:cxn modelId="{C41F6560-CFFC-4457-AC72-0842A3CE9A5A}" type="presParOf" srcId="{2A6AE6E0-1864-4BFB-83F7-BA8B3BB0B5FC}" destId="{0DED7B83-4FBB-4C8B-BCFA-C24211B430C9}" srcOrd="2" destOrd="0" presId="urn:microsoft.com/office/officeart/2018/2/layout/IconVerticalSolidList"/>
    <dgm:cxn modelId="{B20811D2-8557-4546-B19B-217B30459AB2}" type="presParOf" srcId="{0DED7B83-4FBB-4C8B-BCFA-C24211B430C9}" destId="{EAC0BD48-99F7-43D9-9F9C-3F98FD4F1E8A}" srcOrd="0" destOrd="0" presId="urn:microsoft.com/office/officeart/2018/2/layout/IconVerticalSolidList"/>
    <dgm:cxn modelId="{A312343E-F217-4AC3-9338-00B19C2AC3AC}" type="presParOf" srcId="{0DED7B83-4FBB-4C8B-BCFA-C24211B430C9}" destId="{DA9D9C93-4F93-4904-BC2D-37BBE09F6C79}" srcOrd="1" destOrd="0" presId="urn:microsoft.com/office/officeart/2018/2/layout/IconVerticalSolidList"/>
    <dgm:cxn modelId="{7F849A88-21E3-4B2E-A29D-02C083AAB4AD}" type="presParOf" srcId="{0DED7B83-4FBB-4C8B-BCFA-C24211B430C9}" destId="{E0EF082D-0876-4596-A5D9-47417C0C78D8}" srcOrd="2" destOrd="0" presId="urn:microsoft.com/office/officeart/2018/2/layout/IconVerticalSolidList"/>
    <dgm:cxn modelId="{610E3007-4DFD-4D22-A06E-372795CBF0A0}" type="presParOf" srcId="{0DED7B83-4FBB-4C8B-BCFA-C24211B430C9}" destId="{455B0228-D54F-4D95-B13F-DD59A462F9F3}" srcOrd="3" destOrd="0" presId="urn:microsoft.com/office/officeart/2018/2/layout/IconVerticalSolidList"/>
    <dgm:cxn modelId="{C282DDD3-8942-4A8F-99AA-3C560DF7B6C2}" type="presParOf" srcId="{2A6AE6E0-1864-4BFB-83F7-BA8B3BB0B5FC}" destId="{7E0E9467-8838-4DA3-B4F5-301F7D53C86E}" srcOrd="3" destOrd="0" presId="urn:microsoft.com/office/officeart/2018/2/layout/IconVerticalSolidList"/>
    <dgm:cxn modelId="{55580E2E-2540-44E1-B7E4-6110E4A2C12A}" type="presParOf" srcId="{2A6AE6E0-1864-4BFB-83F7-BA8B3BB0B5FC}" destId="{D0DBD7AA-2C97-4200-9336-C521D9A29753}" srcOrd="4" destOrd="0" presId="urn:microsoft.com/office/officeart/2018/2/layout/IconVerticalSolidList"/>
    <dgm:cxn modelId="{537FBB2A-E504-45DB-A3C9-91CB237D1784}" type="presParOf" srcId="{D0DBD7AA-2C97-4200-9336-C521D9A29753}" destId="{A1ED0259-321C-43B9-A691-A3EC6D65B5CC}" srcOrd="0" destOrd="0" presId="urn:microsoft.com/office/officeart/2018/2/layout/IconVerticalSolidList"/>
    <dgm:cxn modelId="{2E2B6173-0076-4E7B-8C3F-958EE6356373}" type="presParOf" srcId="{D0DBD7AA-2C97-4200-9336-C521D9A29753}" destId="{4B4B2479-BDE0-4840-BF46-C799A95F2A2C}" srcOrd="1" destOrd="0" presId="urn:microsoft.com/office/officeart/2018/2/layout/IconVerticalSolidList"/>
    <dgm:cxn modelId="{74CD54CD-ECB9-497A-B51A-4373D97165E2}" type="presParOf" srcId="{D0DBD7AA-2C97-4200-9336-C521D9A29753}" destId="{DF119CEF-F6D5-4B6A-8DA5-E351F2D0CAFE}" srcOrd="2" destOrd="0" presId="urn:microsoft.com/office/officeart/2018/2/layout/IconVerticalSolidList"/>
    <dgm:cxn modelId="{A38D71C6-2088-4B62-9E96-0006EEE6A336}" type="presParOf" srcId="{D0DBD7AA-2C97-4200-9336-C521D9A29753}" destId="{59C3332A-5EDD-4839-9CD7-38F73A187C83}" srcOrd="3" destOrd="0" presId="urn:microsoft.com/office/officeart/2018/2/layout/IconVerticalSolidList"/>
    <dgm:cxn modelId="{476049B1-63CE-4D84-96C9-EF925132839F}" type="presParOf" srcId="{2A6AE6E0-1864-4BFB-83F7-BA8B3BB0B5FC}" destId="{EC3C5C74-62F0-4970-8C97-AB09E4D8CAE0}" srcOrd="5" destOrd="0" presId="urn:microsoft.com/office/officeart/2018/2/layout/IconVerticalSolidList"/>
    <dgm:cxn modelId="{618FCC63-3684-4887-9F59-2E708A06E0D3}" type="presParOf" srcId="{2A6AE6E0-1864-4BFB-83F7-BA8B3BB0B5FC}" destId="{E6C579E1-2501-41F9-B5BD-3EBDEB4ED120}" srcOrd="6" destOrd="0" presId="urn:microsoft.com/office/officeart/2018/2/layout/IconVerticalSolidList"/>
    <dgm:cxn modelId="{FC89457B-3E23-45E8-B4F2-24058BA81DD9}" type="presParOf" srcId="{E6C579E1-2501-41F9-B5BD-3EBDEB4ED120}" destId="{0778F852-F8BF-4C1B-ADD1-B00133B17E9E}" srcOrd="0" destOrd="0" presId="urn:microsoft.com/office/officeart/2018/2/layout/IconVerticalSolidList"/>
    <dgm:cxn modelId="{4542BAF0-ED4B-4824-B973-FE9D67FC3CC8}" type="presParOf" srcId="{E6C579E1-2501-41F9-B5BD-3EBDEB4ED120}" destId="{0C1CBBBE-9836-40D2-9223-8E9034B8DBD9}" srcOrd="1" destOrd="0" presId="urn:microsoft.com/office/officeart/2018/2/layout/IconVerticalSolidList"/>
    <dgm:cxn modelId="{D24B9557-BDF1-4D5F-9AA8-5CE9301554BD}" type="presParOf" srcId="{E6C579E1-2501-41F9-B5BD-3EBDEB4ED120}" destId="{BDF2BDC6-FB5C-4B97-9D1A-A4E01C5B17E3}" srcOrd="2" destOrd="0" presId="urn:microsoft.com/office/officeart/2018/2/layout/IconVerticalSolidList"/>
    <dgm:cxn modelId="{E4051851-AFC5-44DC-9C9B-E793E0C27B64}" type="presParOf" srcId="{E6C579E1-2501-41F9-B5BD-3EBDEB4ED120}" destId="{3BD91AA7-77B0-4511-9963-992EDA95BE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6D315-6562-4A45-8A5D-57184986758A}">
      <dsp:nvSpPr>
        <dsp:cNvPr id="0" name=""/>
        <dsp:cNvSpPr/>
      </dsp:nvSpPr>
      <dsp:spPr>
        <a:xfrm>
          <a:off x="0" y="443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5ACBCB-D2EB-4EC4-8E5A-00F0652E72BA}">
      <dsp:nvSpPr>
        <dsp:cNvPr id="0" name=""/>
        <dsp:cNvSpPr/>
      </dsp:nvSpPr>
      <dsp:spPr>
        <a:xfrm>
          <a:off x="314046" y="234032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A46F9-BF67-45CE-AD8D-BDF179269344}">
      <dsp:nvSpPr>
        <dsp:cNvPr id="0" name=""/>
        <dsp:cNvSpPr/>
      </dsp:nvSpPr>
      <dsp:spPr>
        <a:xfrm>
          <a:off x="1199087" y="443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Audit your tenant: what exists, who owns it, what's shared externally</a:t>
          </a:r>
        </a:p>
      </dsp:txBody>
      <dsp:txXfrm>
        <a:off x="1199087" y="443"/>
        <a:ext cx="9827655" cy="1038171"/>
      </dsp:txXfrm>
    </dsp:sp>
    <dsp:sp modelId="{8537EA0E-297A-4542-844D-736D9BA85B33}">
      <dsp:nvSpPr>
        <dsp:cNvPr id="0" name=""/>
        <dsp:cNvSpPr/>
      </dsp:nvSpPr>
      <dsp:spPr>
        <a:xfrm>
          <a:off x="0" y="1298157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CCF92-1520-4861-9333-75C37956287D}">
      <dsp:nvSpPr>
        <dsp:cNvPr id="0" name=""/>
        <dsp:cNvSpPr/>
      </dsp:nvSpPr>
      <dsp:spPr>
        <a:xfrm>
          <a:off x="314046" y="1531745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C7516-5F58-4D36-81B1-D70EAF45BED3}">
      <dsp:nvSpPr>
        <dsp:cNvPr id="0" name=""/>
        <dsp:cNvSpPr/>
      </dsp:nvSpPr>
      <dsp:spPr>
        <a:xfrm>
          <a:off x="1199087" y="1298157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Fix the 3–4 critical tenant settings (publish to web, external sharing)</a:t>
          </a:r>
        </a:p>
      </dsp:txBody>
      <dsp:txXfrm>
        <a:off x="1199087" y="1298157"/>
        <a:ext cx="9827655" cy="1038171"/>
      </dsp:txXfrm>
    </dsp:sp>
    <dsp:sp modelId="{C912A8D8-F978-418D-9BE4-9DF08E56102B}">
      <dsp:nvSpPr>
        <dsp:cNvPr id="0" name=""/>
        <dsp:cNvSpPr/>
      </dsp:nvSpPr>
      <dsp:spPr>
        <a:xfrm>
          <a:off x="0" y="2595871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374BB-C28D-422B-899E-8BCFD197BCB0}">
      <dsp:nvSpPr>
        <dsp:cNvPr id="0" name=""/>
        <dsp:cNvSpPr/>
      </dsp:nvSpPr>
      <dsp:spPr>
        <a:xfrm>
          <a:off x="314046" y="2829459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9FAC9-0EA9-4AE3-81FC-9B18616B483F}">
      <dsp:nvSpPr>
        <dsp:cNvPr id="0" name=""/>
        <dsp:cNvSpPr/>
      </dsp:nvSpPr>
      <dsp:spPr>
        <a:xfrm>
          <a:off x="1199087" y="2595871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 err="1"/>
            <a:t>Analyze</a:t>
          </a:r>
          <a:r>
            <a:rPr lang="cs-CZ" sz="2500" kern="1200" dirty="0"/>
            <a:t> </a:t>
          </a:r>
          <a:r>
            <a:rPr lang="cs-CZ" sz="2500" kern="1200" dirty="0" err="1"/>
            <a:t>current</a:t>
          </a:r>
          <a:r>
            <a:rPr lang="cs-CZ" sz="2500" kern="1200" dirty="0"/>
            <a:t> data </a:t>
          </a:r>
          <a:r>
            <a:rPr lang="cs-CZ" sz="2500" kern="1200" dirty="0" err="1"/>
            <a:t>structure</a:t>
          </a:r>
          <a:r>
            <a:rPr lang="cs-CZ" sz="2500" kern="1200" dirty="0"/>
            <a:t> and most </a:t>
          </a:r>
          <a:r>
            <a:rPr lang="cs-CZ" sz="2500" kern="1200" dirty="0" err="1"/>
            <a:t>used</a:t>
          </a:r>
          <a:r>
            <a:rPr lang="cs-CZ" sz="2500" kern="1200" dirty="0"/>
            <a:t> data </a:t>
          </a:r>
          <a:r>
            <a:rPr lang="cs-CZ" sz="2500" kern="1200" dirty="0" err="1"/>
            <a:t>models</a:t>
          </a:r>
          <a:endParaRPr lang="en-US" sz="2500" kern="1200" dirty="0"/>
        </a:p>
      </dsp:txBody>
      <dsp:txXfrm>
        <a:off x="1199087" y="2595871"/>
        <a:ext cx="9827655" cy="1038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EE0A4-D54A-4CFB-B8DA-06C78C3C0575}">
      <dsp:nvSpPr>
        <dsp:cNvPr id="0" name=""/>
        <dsp:cNvSpPr/>
      </dsp:nvSpPr>
      <dsp:spPr>
        <a:xfrm>
          <a:off x="0" y="443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E75CF-F41C-4BC5-8C8F-E5D3376D6AB6}">
      <dsp:nvSpPr>
        <dsp:cNvPr id="0" name=""/>
        <dsp:cNvSpPr/>
      </dsp:nvSpPr>
      <dsp:spPr>
        <a:xfrm>
          <a:off x="314046" y="234032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B031B-610D-4F31-91EA-75D49F82377F}">
      <dsp:nvSpPr>
        <dsp:cNvPr id="0" name=""/>
        <dsp:cNvSpPr/>
      </dsp:nvSpPr>
      <dsp:spPr>
        <a:xfrm>
          <a:off x="1199087" y="443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Define a workspace, reports, SM, naming convention and enforce it</a:t>
          </a:r>
        </a:p>
      </dsp:txBody>
      <dsp:txXfrm>
        <a:off x="1199087" y="443"/>
        <a:ext cx="9827655" cy="1038171"/>
      </dsp:txXfrm>
    </dsp:sp>
    <dsp:sp modelId="{CBFB1F1E-91DD-4CBD-B411-0C992F743532}">
      <dsp:nvSpPr>
        <dsp:cNvPr id="0" name=""/>
        <dsp:cNvSpPr/>
      </dsp:nvSpPr>
      <dsp:spPr>
        <a:xfrm>
          <a:off x="0" y="1298157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FC4C7-0C87-49AF-8706-1EA9C532C67C}">
      <dsp:nvSpPr>
        <dsp:cNvPr id="0" name=""/>
        <dsp:cNvSpPr/>
      </dsp:nvSpPr>
      <dsp:spPr>
        <a:xfrm>
          <a:off x="314046" y="1531745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3C8B9-1CB6-463C-8DE5-705E2D1DCC61}">
      <dsp:nvSpPr>
        <dsp:cNvPr id="0" name=""/>
        <dsp:cNvSpPr/>
      </dsp:nvSpPr>
      <dsp:spPr>
        <a:xfrm>
          <a:off x="1199087" y="1298157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 err="1"/>
            <a:t>Prepare</a:t>
          </a:r>
          <a:r>
            <a:rPr lang="cs-CZ" sz="2500" kern="1200" dirty="0"/>
            <a:t> and </a:t>
          </a:r>
          <a:r>
            <a:rPr lang="cs-CZ" sz="2500" kern="1200" dirty="0" err="1"/>
            <a:t>certify</a:t>
          </a:r>
          <a:r>
            <a:rPr lang="cs-CZ" sz="2500" kern="1200" dirty="0"/>
            <a:t> </a:t>
          </a:r>
          <a:r>
            <a:rPr lang="cs-CZ" sz="2500" kern="1200" dirty="0" err="1"/>
            <a:t>your</a:t>
          </a:r>
          <a:r>
            <a:rPr lang="cs-CZ" sz="2500" kern="1200" dirty="0"/>
            <a:t> </a:t>
          </a:r>
          <a:r>
            <a:rPr lang="cs-CZ" sz="2500" kern="1200" dirty="0" err="1"/>
            <a:t>core</a:t>
          </a:r>
          <a:r>
            <a:rPr lang="cs-CZ" sz="2500" kern="1200" dirty="0"/>
            <a:t> </a:t>
          </a:r>
          <a:r>
            <a:rPr lang="cs-CZ" sz="2500" kern="1200" dirty="0" err="1"/>
            <a:t>semantic</a:t>
          </a:r>
          <a:r>
            <a:rPr lang="cs-CZ" sz="2500" kern="1200" dirty="0"/>
            <a:t> </a:t>
          </a:r>
          <a:r>
            <a:rPr lang="cs-CZ" sz="2500" kern="1200" dirty="0" err="1"/>
            <a:t>moels</a:t>
          </a:r>
          <a:endParaRPr lang="en-US" sz="2500" kern="1200" dirty="0"/>
        </a:p>
      </dsp:txBody>
      <dsp:txXfrm>
        <a:off x="1199087" y="1298157"/>
        <a:ext cx="9827655" cy="1038171"/>
      </dsp:txXfrm>
    </dsp:sp>
    <dsp:sp modelId="{C5379336-10A0-41CF-943B-1184523401F2}">
      <dsp:nvSpPr>
        <dsp:cNvPr id="0" name=""/>
        <dsp:cNvSpPr/>
      </dsp:nvSpPr>
      <dsp:spPr>
        <a:xfrm>
          <a:off x="0" y="2595871"/>
          <a:ext cx="11026742" cy="1038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FB820-F01E-4868-9E79-5473F7EC9DFD}">
      <dsp:nvSpPr>
        <dsp:cNvPr id="0" name=""/>
        <dsp:cNvSpPr/>
      </dsp:nvSpPr>
      <dsp:spPr>
        <a:xfrm>
          <a:off x="314046" y="2829459"/>
          <a:ext cx="570994" cy="5709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85C3B-DFE9-4ACF-B9D4-C02002C22192}">
      <dsp:nvSpPr>
        <dsp:cNvPr id="0" name=""/>
        <dsp:cNvSpPr/>
      </dsp:nvSpPr>
      <dsp:spPr>
        <a:xfrm>
          <a:off x="1199087" y="2595871"/>
          <a:ext cx="9827655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Identify </a:t>
          </a:r>
          <a:r>
            <a:rPr lang="cs-CZ" sz="2500" kern="1200" dirty="0"/>
            <a:t>Data </a:t>
          </a:r>
          <a:r>
            <a:rPr lang="cs-CZ" sz="2500" kern="1200" dirty="0" err="1"/>
            <a:t>Stewards</a:t>
          </a:r>
          <a:r>
            <a:rPr lang="cs-CZ" sz="2500" kern="1200" dirty="0"/>
            <a:t> </a:t>
          </a:r>
          <a:r>
            <a:rPr lang="en-US" sz="2500" kern="1200" dirty="0"/>
            <a:t>in key business units</a:t>
          </a:r>
        </a:p>
      </dsp:txBody>
      <dsp:txXfrm>
        <a:off x="1199087" y="2595871"/>
        <a:ext cx="9827655" cy="1038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7256F-EEF9-4A05-B179-39A33E975287}">
      <dsp:nvSpPr>
        <dsp:cNvPr id="0" name=""/>
        <dsp:cNvSpPr/>
      </dsp:nvSpPr>
      <dsp:spPr>
        <a:xfrm>
          <a:off x="0" y="1508"/>
          <a:ext cx="11026742" cy="764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AFFD0-E792-454A-9705-43848BC248E7}">
      <dsp:nvSpPr>
        <dsp:cNvPr id="0" name=""/>
        <dsp:cNvSpPr/>
      </dsp:nvSpPr>
      <dsp:spPr>
        <a:xfrm>
          <a:off x="231267" y="173525"/>
          <a:ext cx="420485" cy="4204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0DC14-BF98-42AB-9F87-E7ADB45CD4EB}">
      <dsp:nvSpPr>
        <dsp:cNvPr id="0" name=""/>
        <dsp:cNvSpPr/>
      </dsp:nvSpPr>
      <dsp:spPr>
        <a:xfrm>
          <a:off x="883020" y="1508"/>
          <a:ext cx="10143722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Implement governance step by step</a:t>
          </a:r>
        </a:p>
      </dsp:txBody>
      <dsp:txXfrm>
        <a:off x="883020" y="1508"/>
        <a:ext cx="10143722" cy="764519"/>
      </dsp:txXfrm>
    </dsp:sp>
    <dsp:sp modelId="{EAC0BD48-99F7-43D9-9F9C-3F98FD4F1E8A}">
      <dsp:nvSpPr>
        <dsp:cNvPr id="0" name=""/>
        <dsp:cNvSpPr/>
      </dsp:nvSpPr>
      <dsp:spPr>
        <a:xfrm>
          <a:off x="0" y="957158"/>
          <a:ext cx="11026742" cy="764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D9C93-4F93-4904-BC2D-37BBE09F6C79}">
      <dsp:nvSpPr>
        <dsp:cNvPr id="0" name=""/>
        <dsp:cNvSpPr/>
      </dsp:nvSpPr>
      <dsp:spPr>
        <a:xfrm>
          <a:off x="231267" y="1129175"/>
          <a:ext cx="420485" cy="4204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B0228-D54F-4D95-B13F-DD59A462F9F3}">
      <dsp:nvSpPr>
        <dsp:cNvPr id="0" name=""/>
        <dsp:cNvSpPr/>
      </dsp:nvSpPr>
      <dsp:spPr>
        <a:xfrm>
          <a:off x="883020" y="957158"/>
          <a:ext cx="10143722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Deploy Row-Level Security on sensitive datasets</a:t>
          </a:r>
        </a:p>
      </dsp:txBody>
      <dsp:txXfrm>
        <a:off x="883020" y="957158"/>
        <a:ext cx="10143722" cy="764519"/>
      </dsp:txXfrm>
    </dsp:sp>
    <dsp:sp modelId="{A1ED0259-321C-43B9-A691-A3EC6D65B5CC}">
      <dsp:nvSpPr>
        <dsp:cNvPr id="0" name=""/>
        <dsp:cNvSpPr/>
      </dsp:nvSpPr>
      <dsp:spPr>
        <a:xfrm>
          <a:off x="0" y="1912807"/>
          <a:ext cx="11026742" cy="764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B2479-BDE0-4840-BF46-C799A95F2A2C}">
      <dsp:nvSpPr>
        <dsp:cNvPr id="0" name=""/>
        <dsp:cNvSpPr/>
      </dsp:nvSpPr>
      <dsp:spPr>
        <a:xfrm>
          <a:off x="231267" y="2084824"/>
          <a:ext cx="420485" cy="4204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3332A-5EDD-4839-9CD7-38F73A187C83}">
      <dsp:nvSpPr>
        <dsp:cNvPr id="0" name=""/>
        <dsp:cNvSpPr/>
      </dsp:nvSpPr>
      <dsp:spPr>
        <a:xfrm>
          <a:off x="883020" y="1912807"/>
          <a:ext cx="10143722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Define and publish your endorsement process</a:t>
          </a:r>
        </a:p>
      </dsp:txBody>
      <dsp:txXfrm>
        <a:off x="883020" y="1912807"/>
        <a:ext cx="10143722" cy="764519"/>
      </dsp:txXfrm>
    </dsp:sp>
    <dsp:sp modelId="{0778F852-F8BF-4C1B-ADD1-B00133B17E9E}">
      <dsp:nvSpPr>
        <dsp:cNvPr id="0" name=""/>
        <dsp:cNvSpPr/>
      </dsp:nvSpPr>
      <dsp:spPr>
        <a:xfrm>
          <a:off x="0" y="2868457"/>
          <a:ext cx="11026742" cy="7645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CBBBE-9836-40D2-9223-8E9034B8DBD9}">
      <dsp:nvSpPr>
        <dsp:cNvPr id="0" name=""/>
        <dsp:cNvSpPr/>
      </dsp:nvSpPr>
      <dsp:spPr>
        <a:xfrm>
          <a:off x="231267" y="3040474"/>
          <a:ext cx="420485" cy="4204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91AA7-77B0-4511-9963-992EDA95BEFC}">
      <dsp:nvSpPr>
        <dsp:cNvPr id="0" name=""/>
        <dsp:cNvSpPr/>
      </dsp:nvSpPr>
      <dsp:spPr>
        <a:xfrm>
          <a:off x="883020" y="2868457"/>
          <a:ext cx="10143722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The rule: Fix what's broken first. Build what's missing second.</a:t>
          </a:r>
        </a:p>
      </dsp:txBody>
      <dsp:txXfrm>
        <a:off x="883020" y="2868457"/>
        <a:ext cx="10143722" cy="764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35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- Questions preferred in the end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9BB3-9FF5-ACE2-6A38-A0FF59BB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4E121-8B98-7B74-47D6-FE8F2D21E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2CA87-9AF5-1C83-4EB6-E63475B0B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615E-2601-3A2A-2F8F-EB2A37AF4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0028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joke about Hogwarts – not real organization but real problem</a:t>
            </a:r>
          </a:p>
          <a:p>
            <a:r>
              <a:rPr lang="en-US" dirty="0"/>
              <a:t>Workspace with multiple: duplicates, v1/v2/FINAL/FINAL REAL naming</a:t>
            </a:r>
          </a:p>
          <a:p>
            <a:r>
              <a:rPr lang="en-US" dirty="0"/>
              <a:t>Datasets with no description, stale refresh dates</a:t>
            </a:r>
          </a:p>
          <a:p>
            <a:r>
              <a:rPr lang="en-US" dirty="0"/>
              <a:t>Workspace access —people with Edit or Admin who shouldn't have it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B30F-C5D4-BD10-BA5D-FA00D711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809DB-0BAF-8C85-419F-EAB407020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086B5-ED16-C839-7D79-904412F04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Hogwarts Analytics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8B522-E3F5-1155-226B-E2E8347E9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5901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D39CA-08EE-65B4-7045-79818366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27FCB-E691-ED73-940F-F145A2974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E5590-538B-9226-940B-10C573200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272DE-0013-17C0-A62A-7C6A724DC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00946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648E-E4B3-9994-86A8-1C5BF757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FDA9E-ED0C-5882-DB42-0343EEF877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EEF14-D6E5-2508-FC78-6837CE19D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2D161-5393-35C3-9072-373F45549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8940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8E1C-6F7F-CCA1-A6C6-3806AC54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94850-42AA-9387-50A5-D02C14D57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2B3F7-1D96-3ED2-48F4-285A50C00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2385A-F93A-F02B-9C52-F20965C53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18779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B659-FFA9-D520-2DD3-A5AB32FD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A640A-F106-2B99-C229-1CBAD831EC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43FEC-9D7C-B7DF-DB93-4494387DA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Workspace creation: "All users" → recommend specific security groups</a:t>
            </a:r>
          </a:p>
          <a:p>
            <a:r>
              <a:rPr lang="en-US" dirty="0"/>
              <a:t>Publish to web: On → recommend Off</a:t>
            </a:r>
          </a:p>
          <a:p>
            <a:r>
              <a:rPr lang="en-US" dirty="0"/>
              <a:t>External sharing: On → </a:t>
            </a:r>
            <a:r>
              <a:rPr lang="cs-CZ" dirty="0" err="1"/>
              <a:t>Off</a:t>
            </a:r>
            <a:r>
              <a:rPr lang="en-US" dirty="0"/>
              <a:t> (instead invite people to your tenant)</a:t>
            </a:r>
          </a:p>
          <a:p>
            <a:r>
              <a:rPr lang="en-US" dirty="0"/>
              <a:t>Certification: who can certify datasets → designated certifiers, not just admins</a:t>
            </a:r>
          </a:p>
          <a:p>
            <a:r>
              <a:rPr lang="en-US" dirty="0"/>
              <a:t>Sensitivity labels: Optional → Required on publish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C59D-B6B3-48BC-6C7F-38F211F97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00810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5BD8-4E7D-D217-44EF-E35726EF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94AC8-40D2-30CC-B444-D904CB1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4C964-5983-E574-83F7-8A7BBBABC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47A0A-1355-EBB0-26E2-293C3B18D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6945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ADA2-A1B1-C7CA-B6B5-8CBCB566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9ED0C-2008-C24B-9639-A8FC2E5D2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816BA-4BE2-DA47-4A38-035DAB6E5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err="1"/>
              <a:t>Clean</a:t>
            </a:r>
            <a:r>
              <a:rPr lang="cs-CZ" dirty="0"/>
              <a:t> </a:t>
            </a:r>
            <a:r>
              <a:rPr lang="cs-CZ" dirty="0" err="1"/>
              <a:t>workspaces</a:t>
            </a:r>
            <a:r>
              <a:rPr lang="cs-CZ" dirty="0"/>
              <a:t>: </a:t>
            </a:r>
            <a:r>
              <a:rPr lang="cs-CZ" dirty="0" err="1"/>
              <a:t>Hogwarts</a:t>
            </a:r>
            <a:r>
              <a:rPr lang="cs-CZ" dirty="0"/>
              <a:t> · </a:t>
            </a:r>
            <a:r>
              <a:rPr lang="cs-CZ" dirty="0" err="1"/>
              <a:t>Core</a:t>
            </a:r>
            <a:r>
              <a:rPr lang="cs-CZ" dirty="0"/>
              <a:t> Data, </a:t>
            </a:r>
            <a:r>
              <a:rPr lang="cs-CZ" dirty="0" err="1"/>
              <a:t>Gryffindor</a:t>
            </a:r>
            <a:r>
              <a:rPr lang="cs-CZ" dirty="0"/>
              <a:t> · </a:t>
            </a:r>
            <a:r>
              <a:rPr lang="cs-CZ" dirty="0" err="1"/>
              <a:t>Reports</a:t>
            </a:r>
            <a:r>
              <a:rPr lang="cs-CZ" dirty="0"/>
              <a:t>, </a:t>
            </a:r>
            <a:r>
              <a:rPr lang="cs-CZ" dirty="0" err="1"/>
              <a:t>Slytherin</a:t>
            </a:r>
            <a:r>
              <a:rPr lang="cs-CZ" dirty="0"/>
              <a:t> · </a:t>
            </a:r>
            <a:r>
              <a:rPr lang="cs-CZ" dirty="0" err="1"/>
              <a:t>Reports</a:t>
            </a:r>
            <a:endParaRPr lang="cs-CZ" dirty="0"/>
          </a:p>
          <a:p>
            <a:r>
              <a:rPr lang="cs-CZ" dirty="0" err="1"/>
              <a:t>Certified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in </a:t>
            </a:r>
            <a:r>
              <a:rPr lang="cs-CZ" dirty="0" err="1"/>
              <a:t>Core</a:t>
            </a:r>
            <a:r>
              <a:rPr lang="cs-CZ" dirty="0"/>
              <a:t> Data: </a:t>
            </a:r>
            <a:r>
              <a:rPr lang="cs-CZ" dirty="0" err="1"/>
              <a:t>owner</a:t>
            </a:r>
            <a:r>
              <a:rPr lang="cs-CZ" dirty="0"/>
              <a:t>, </a:t>
            </a:r>
            <a:r>
              <a:rPr lang="cs-CZ" dirty="0" err="1"/>
              <a:t>contact</a:t>
            </a:r>
            <a:r>
              <a:rPr lang="cs-CZ" dirty="0"/>
              <a:t>, </a:t>
            </a:r>
            <a:r>
              <a:rPr lang="cs-CZ" dirty="0" err="1"/>
              <a:t>refresh</a:t>
            </a:r>
            <a:r>
              <a:rPr lang="cs-CZ" dirty="0"/>
              <a:t> </a:t>
            </a:r>
            <a:r>
              <a:rPr lang="cs-CZ" dirty="0" err="1"/>
              <a:t>schedule</a:t>
            </a:r>
            <a:r>
              <a:rPr lang="cs-CZ" dirty="0"/>
              <a:t>, </a:t>
            </a:r>
            <a:r>
              <a:rPr lang="cs-CZ" dirty="0" err="1"/>
              <a:t>endorsement</a:t>
            </a:r>
            <a:r>
              <a:rPr lang="cs-CZ" dirty="0"/>
              <a:t> </a:t>
            </a:r>
            <a:r>
              <a:rPr lang="cs-CZ" dirty="0" err="1"/>
              <a:t>badge</a:t>
            </a:r>
            <a:endParaRPr lang="cs-CZ" dirty="0"/>
          </a:p>
          <a:p>
            <a:r>
              <a:rPr lang="cs-CZ" dirty="0" err="1"/>
              <a:t>Lineage</a:t>
            </a:r>
            <a:r>
              <a:rPr lang="cs-CZ" dirty="0"/>
              <a:t> </a:t>
            </a:r>
            <a:r>
              <a:rPr lang="cs-CZ" dirty="0" err="1"/>
              <a:t>view</a:t>
            </a:r>
            <a:r>
              <a:rPr lang="en-US" dirty="0"/>
              <a:t> (in </a:t>
            </a:r>
            <a:r>
              <a:rPr lang="en-US" dirty="0" err="1"/>
              <a:t>Gryf</a:t>
            </a:r>
            <a:r>
              <a:rPr lang="en-US" dirty="0"/>
              <a:t>/</a:t>
            </a:r>
            <a:r>
              <a:rPr lang="en-US" dirty="0" err="1"/>
              <a:t>Slyth</a:t>
            </a:r>
            <a:r>
              <a:rPr lang="en-US" dirty="0"/>
              <a:t> workspace)</a:t>
            </a:r>
            <a:r>
              <a:rPr lang="cs-CZ" dirty="0"/>
              <a:t>: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→ </a:t>
            </a:r>
            <a:r>
              <a:rPr lang="cs-CZ" dirty="0" err="1"/>
              <a:t>enterprise</a:t>
            </a:r>
            <a:r>
              <a:rPr lang="cs-CZ" dirty="0"/>
              <a:t> report + </a:t>
            </a:r>
            <a:r>
              <a:rPr lang="cs-CZ" dirty="0" err="1"/>
              <a:t>self-service</a:t>
            </a:r>
            <a:r>
              <a:rPr lang="cs-CZ" dirty="0"/>
              <a:t> report</a:t>
            </a:r>
          </a:p>
          <a:p>
            <a:r>
              <a:rPr lang="cs-CZ" dirty="0" err="1"/>
              <a:t>Workspace</a:t>
            </a:r>
            <a:r>
              <a:rPr lang="cs-CZ" dirty="0"/>
              <a:t> </a:t>
            </a:r>
            <a:r>
              <a:rPr lang="cs-CZ" dirty="0" err="1"/>
              <a:t>access</a:t>
            </a:r>
            <a:r>
              <a:rPr lang="cs-CZ" dirty="0"/>
              <a:t>: data team </a:t>
            </a:r>
            <a:r>
              <a:rPr lang="cs-CZ" dirty="0" err="1"/>
              <a:t>owns</a:t>
            </a:r>
            <a:r>
              <a:rPr lang="cs-CZ" dirty="0"/>
              <a:t> </a:t>
            </a:r>
            <a:r>
              <a:rPr lang="cs-CZ" dirty="0" err="1"/>
              <a:t>Core</a:t>
            </a:r>
            <a:r>
              <a:rPr lang="cs-CZ" dirty="0"/>
              <a:t> Data, house </a:t>
            </a:r>
            <a:r>
              <a:rPr lang="cs-CZ" dirty="0" err="1"/>
              <a:t>heads</a:t>
            </a:r>
            <a:r>
              <a:rPr lang="cs-CZ" dirty="0"/>
              <a:t> </a:t>
            </a:r>
            <a:r>
              <a:rPr lang="cs-CZ" dirty="0" err="1"/>
              <a:t>own</a:t>
            </a:r>
            <a:r>
              <a:rPr lang="cs-CZ" dirty="0"/>
              <a:t> </a:t>
            </a:r>
            <a:r>
              <a:rPr lang="cs-CZ" dirty="0" err="1"/>
              <a:t>their</a:t>
            </a:r>
            <a:r>
              <a:rPr lang="cs-CZ" dirty="0"/>
              <a:t> report </a:t>
            </a:r>
            <a:r>
              <a:rPr lang="cs-CZ" dirty="0" err="1"/>
              <a:t>workspace</a:t>
            </a:r>
            <a:endParaRPr lang="cs-CZ" dirty="0"/>
          </a:p>
          <a:p>
            <a:r>
              <a:rPr lang="en-US" dirty="0"/>
              <a:t>RLS: </a:t>
            </a:r>
            <a:r>
              <a:rPr lang="cs-CZ" dirty="0" err="1"/>
              <a:t>View</a:t>
            </a:r>
            <a:r>
              <a:rPr lang="cs-CZ" dirty="0"/>
              <a:t> as role → </a:t>
            </a:r>
            <a:r>
              <a:rPr lang="cs-CZ" dirty="0" err="1"/>
              <a:t>Slytherin_Head</a:t>
            </a:r>
            <a:r>
              <a:rPr lang="cs-CZ" dirty="0"/>
              <a:t> →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Slytherin</a:t>
            </a:r>
            <a:r>
              <a:rPr lang="cs-CZ" dirty="0"/>
              <a:t> </a:t>
            </a:r>
            <a:r>
              <a:rPr lang="cs-CZ" dirty="0" err="1"/>
              <a:t>students</a:t>
            </a:r>
            <a:r>
              <a:rPr lang="cs-CZ" dirty="0"/>
              <a:t> </a:t>
            </a:r>
            <a:r>
              <a:rPr lang="cs-CZ" dirty="0" err="1"/>
              <a:t>visible</a:t>
            </a:r>
            <a:r>
              <a:rPr lang="cs-CZ" dirty="0"/>
              <a:t>. Switch to </a:t>
            </a:r>
            <a:r>
              <a:rPr lang="cs-CZ" dirty="0" err="1"/>
              <a:t>Headmaster</a:t>
            </a:r>
            <a:r>
              <a:rPr lang="cs-CZ" dirty="0"/>
              <a:t> → </a:t>
            </a:r>
            <a:r>
              <a:rPr lang="cs-CZ" dirty="0" err="1"/>
              <a:t>all</a:t>
            </a:r>
            <a:r>
              <a:rPr lang="cs-CZ" dirty="0"/>
              <a:t> 40 </a:t>
            </a:r>
            <a:r>
              <a:rPr lang="cs-CZ" dirty="0" err="1"/>
              <a:t>students</a:t>
            </a:r>
            <a:r>
              <a:rPr lang="cs-CZ" dirty="0"/>
              <a:t>. </a:t>
            </a:r>
            <a:r>
              <a:rPr lang="cs-CZ" dirty="0" err="1"/>
              <a:t>One</a:t>
            </a:r>
            <a:r>
              <a:rPr lang="cs-CZ" dirty="0"/>
              <a:t> report,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, </a:t>
            </a:r>
            <a:r>
              <a:rPr lang="cs-CZ" dirty="0" err="1"/>
              <a:t>different</a:t>
            </a:r>
            <a:r>
              <a:rPr lang="cs-CZ" dirty="0"/>
              <a:t> data per user.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6DFF4-658D-BDCF-990D-1E8E0D4BD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5718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80EC-C1E3-9033-61C5-139C8E26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6A139-9BC0-6713-AF01-C68710DA3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4D22D-1B18-CD4B-9EC9-4749D2766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C68E-E229-D5D8-6E4E-FB6C17E9E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1572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C92E3-CE6B-647E-EA1E-DF3E6C18A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BF472-EECF-F682-4042-E530103CB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72C9B-97A3-4192-75BF-4C294C556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F070D-AA1A-13FC-AA37-45ADD3B34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41486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89EB-4DCD-45CE-AFC1-ADF582A3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6AC39-FFF7-B7DC-FFE6-969D71A18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ED9F2-265F-16A6-3BE3-B286994B8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8177-21F1-0C62-EA6D-957D6E19E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5857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0118-7B69-6833-3F60-E077842B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B8E60-3ED3-58F4-0AE4-F3F889EAB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7F5B2-6523-863B-9699-82F62E381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E3334-7642-50D2-C649-988BA5EA2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25307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E9CD-6DB3-D4D6-61F8-AD761345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23465-93E1-4F27-D221-39AC1D75E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57208-49FA-CA01-3297-96BE17BBC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B3C56-43C8-9C53-E1CC-0D90E9E7A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65312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B017-8889-4A8C-A269-D9E2B4C1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72F26-0D27-AA37-41DE-3D26BB326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2F504-88BC-2C2E-FDBC-FE51D2147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F0119-5D23-A7FD-1BDC-9D144735A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0354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0845-0E0D-9822-30CF-42E56560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E89E6-96FA-73C4-5E9A-00365D63B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4478E-911A-7749-7C11-266189BE3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7B049-2860-547F-507F-101E6E5C5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962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418" y="3085765"/>
            <a:ext cx="11295990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040" y="1020431"/>
            <a:ext cx="10990686" cy="1475013"/>
          </a:xfrm>
          <a:effectLst/>
        </p:spPr>
        <p:txBody>
          <a:bodyPr rtlCol="0" anchor="b">
            <a:normAutofit/>
          </a:bodyPr>
          <a:lstStyle>
            <a:lvl1pPr>
              <a:defRPr sz="35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043" y="2495446"/>
            <a:ext cx="10990683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041" y="2340864"/>
            <a:ext cx="11026743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11" name="Zástupný symbol pro datum 7">
            <a:extLst>
              <a:ext uri="{FF2B5EF4-FFF2-40B4-BE49-F238E27FC236}">
                <a16:creationId xmlns:a16="http://schemas.microsoft.com/office/drawing/2014/main" id="{95FD8F83-E679-6C0B-D675-5C85BEE8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12" name="Zástupný symbol pro zápatí 8">
            <a:extLst>
              <a:ext uri="{FF2B5EF4-FFF2-40B4-BE49-F238E27FC236}">
                <a16:creationId xmlns:a16="http://schemas.microsoft.com/office/drawing/2014/main" id="{1C059F56-47A2-A438-5889-2A88476B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Zástupný symbol pro číslo snímku 9">
            <a:extLst>
              <a:ext uri="{FF2B5EF4-FFF2-40B4-BE49-F238E27FC236}">
                <a16:creationId xmlns:a16="http://schemas.microsoft.com/office/drawing/2014/main" id="{1476D191-1E9F-10D3-FE46-73A5A5DA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4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700" y="5141975"/>
            <a:ext cx="1128792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042" y="2393951"/>
            <a:ext cx="11026743" cy="2147467"/>
          </a:xfrm>
        </p:spPr>
        <p:txBody>
          <a:bodyPr rtlCol="0" anchor="b">
            <a:normAutofit/>
          </a:bodyPr>
          <a:lstStyle>
            <a:lvl1pPr algn="l">
              <a:defRPr sz="3599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041" y="4541417"/>
            <a:ext cx="11026743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799" cap="all">
                <a:solidFill>
                  <a:schemeClr val="accent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5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042" y="2228004"/>
            <a:ext cx="5193414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4369" y="2228004"/>
            <a:ext cx="5193416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8" name="Zástupný symbol pro datum 6">
            <a:extLst>
              <a:ext uri="{FF2B5EF4-FFF2-40B4-BE49-F238E27FC236}">
                <a16:creationId xmlns:a16="http://schemas.microsoft.com/office/drawing/2014/main" id="{479E7D96-A1EC-3215-FB74-EF69054D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EE1E650-64A1-D353-A816-EB58B3AB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FB77481-25ED-D8DB-AD5A-0A3CDDA2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7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040" y="2250891"/>
            <a:ext cx="5193416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043" y="2926053"/>
            <a:ext cx="5193413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4368" y="2250893"/>
            <a:ext cx="5193417" cy="553373"/>
          </a:xfrm>
        </p:spPr>
        <p:txBody>
          <a:bodyPr rtlCol="0" anchor="ctr">
            <a:noAutofit/>
          </a:bodyPr>
          <a:lstStyle>
            <a:lvl1pPr marL="0" marR="0" indent="0" algn="l" defTabSz="4570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4367" y="2926053"/>
            <a:ext cx="5193418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744" y="729658"/>
            <a:ext cx="11026744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1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701" y="601201"/>
            <a:ext cx="3681764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657" y="933451"/>
            <a:ext cx="3031062" cy="1722419"/>
          </a:xfrm>
        </p:spPr>
        <p:txBody>
          <a:bodyPr rtlCol="0" anchor="b">
            <a:normAutofit/>
          </a:bodyPr>
          <a:lstStyle>
            <a:lvl1pPr algn="l">
              <a:defRPr sz="2399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899652" y="1179829"/>
            <a:ext cx="6649259" cy="4658216"/>
          </a:xfrm>
        </p:spPr>
        <p:txBody>
          <a:bodyPr rtlCol="0" anchor="ctr">
            <a:normAutofit/>
          </a:bodyPr>
          <a:lstStyle>
            <a:lvl1pPr>
              <a:defRPr sz="1999">
                <a:solidFill>
                  <a:schemeClr val="tx2"/>
                </a:solidFill>
              </a:defRPr>
            </a:lvl1pPr>
            <a:lvl2pPr>
              <a:defRPr sz="1799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657" y="2836654"/>
            <a:ext cx="303106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063" indent="0">
              <a:buNone/>
              <a:defRPr sz="11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56917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52591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56917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1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041" y="4693389"/>
            <a:ext cx="11026744" cy="566738"/>
          </a:xfrm>
        </p:spPr>
        <p:txBody>
          <a:bodyPr rtlCol="0" anchor="b">
            <a:normAutofit/>
          </a:bodyPr>
          <a:lstStyle>
            <a:lvl1pPr algn="l">
              <a:defRPr sz="23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701" y="641351"/>
            <a:ext cx="1128791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pPr rtl="0"/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041" y="5260127"/>
            <a:ext cx="11026745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5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2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6052" y="599725"/>
            <a:ext cx="368635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2064" y="863600"/>
            <a:ext cx="3123386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722" y="863600"/>
            <a:ext cx="7159760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418" y="457200"/>
            <a:ext cx="3702356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0052" y="453643"/>
            <a:ext cx="3702356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0725" y="457200"/>
            <a:ext cx="3702356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3971" y="6423915"/>
            <a:ext cx="2844058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040" y="6423915"/>
            <a:ext cx="6915409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5550" y="6423915"/>
            <a:ext cx="1052236" cy="365125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492" y="593367"/>
            <a:ext cx="11357841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cs-CZ"/>
              <a:t>Kliknutím lze upravit styl.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492" y="1536633"/>
            <a:ext cx="11357841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402" lvl="0" indent="-50783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199"/>
            </a:lvl1pPr>
            <a:lvl2pPr marL="1218804" lvl="1" indent="-45705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399"/>
            </a:lvl2pPr>
            <a:lvl3pPr marL="1828205" lvl="2" indent="-440124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2"/>
            </a:lvl3pPr>
            <a:lvl4pPr marL="2437607" lvl="3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4pPr>
            <a:lvl5pPr marL="3047010" lvl="4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5pPr>
            <a:lvl6pPr marL="3656412" lvl="5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5813" lvl="6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7pPr>
            <a:lvl8pPr marL="4875215" lvl="7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8pPr>
            <a:lvl9pPr marL="5484617" lvl="8" indent="-42319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3669" y="6217623"/>
            <a:ext cx="731409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Google Shape;21;p4"/>
          <p:cNvSpPr txBox="1"/>
          <p:nvPr/>
        </p:nvSpPr>
        <p:spPr>
          <a:xfrm>
            <a:off x="415492" y="6213234"/>
            <a:ext cx="10878366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121868" rIns="121868" bIns="121868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465359"/>
                </a:solidFill>
                <a:latin typeface="Roboto"/>
                <a:ea typeface="Roboto"/>
                <a:cs typeface="Roboto"/>
                <a:sym typeface="Roboto"/>
              </a:rPr>
              <a:t>Datová akademie, DataSeed Solutions, s.r.o.</a:t>
            </a:r>
            <a:endParaRPr sz="1600">
              <a:solidFill>
                <a:srgbClr val="4653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0312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041" y="705124"/>
            <a:ext cx="11026744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041" y="2336003"/>
            <a:ext cx="11026744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9" name="Obdélník 8"/>
          <p:cNvSpPr/>
          <p:nvPr/>
        </p:nvSpPr>
        <p:spPr>
          <a:xfrm>
            <a:off x="446418" y="457200"/>
            <a:ext cx="3702356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" name="Obdélník 9"/>
          <p:cNvSpPr/>
          <p:nvPr/>
        </p:nvSpPr>
        <p:spPr>
          <a:xfrm>
            <a:off x="8040052" y="453643"/>
            <a:ext cx="3702356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Obdélník 10"/>
          <p:cNvSpPr/>
          <p:nvPr/>
        </p:nvSpPr>
        <p:spPr>
          <a:xfrm>
            <a:off x="4240725" y="457200"/>
            <a:ext cx="3702356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505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457063" rtl="0" eaLnBrk="1" latinLnBrk="0" hangingPunct="1">
        <a:lnSpc>
          <a:spcPct val="100000"/>
        </a:lnSpc>
        <a:spcBef>
          <a:spcPct val="0"/>
        </a:spcBef>
        <a:buNone/>
        <a:defRPr sz="2799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08" indent="-305908" algn="l" defTabSz="457063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9811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9730" indent="-26991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1627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1519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943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34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25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16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Power BI Governance That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Balancing self-service freedom with the control your organization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28895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cs-CZ" sz="1600" dirty="0">
                <a:solidFill>
                  <a:srgbClr val="888888"/>
                </a:solidFill>
              </a:rPr>
              <a:t>Robert </a:t>
            </a:r>
            <a:r>
              <a:rPr lang="cs-CZ" sz="1600" dirty="0" err="1">
                <a:solidFill>
                  <a:srgbClr val="888888"/>
                </a:solidFill>
              </a:rPr>
              <a:t>Mondrik</a:t>
            </a:r>
            <a:r>
              <a:rPr lang="cs-CZ" sz="1600" dirty="0">
                <a:solidFill>
                  <a:srgbClr val="888888"/>
                </a:solidFill>
              </a:rPr>
              <a:t> </a:t>
            </a:r>
            <a:r>
              <a:rPr sz="1600" dirty="0">
                <a:solidFill>
                  <a:srgbClr val="888888"/>
                </a:solidFill>
              </a:rPr>
              <a:t>· </a:t>
            </a:r>
            <a:r>
              <a:rPr lang="cs-CZ" sz="1600" dirty="0">
                <a:solidFill>
                  <a:srgbClr val="888888"/>
                </a:solidFill>
              </a:rPr>
              <a:t>8th May 2026</a:t>
            </a:r>
            <a:endParaRPr sz="16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6AE4B-FEE3-2DF1-20E9-8E2122A6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Speaker</a:t>
            </a:r>
            <a:r>
              <a:rPr lang="cs-CZ" dirty="0"/>
              <a:t> </a:t>
            </a:r>
            <a:r>
              <a:rPr lang="cs-CZ" dirty="0" err="1"/>
              <a:t>introduction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56F939-4C55-4BED-AF47-F21407468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435" y="2341147"/>
            <a:ext cx="6500014" cy="3633540"/>
          </a:xfrm>
        </p:spPr>
        <p:txBody>
          <a:bodyPr>
            <a:normAutofit/>
          </a:bodyPr>
          <a:lstStyle/>
          <a:p>
            <a:r>
              <a:rPr lang="cs-CZ" dirty="0"/>
              <a:t>BI </a:t>
            </a:r>
            <a:r>
              <a:rPr lang="cs-CZ" dirty="0" err="1"/>
              <a:t>Consultant</a:t>
            </a:r>
            <a:r>
              <a:rPr lang="cs-CZ" dirty="0"/>
              <a:t> and Data </a:t>
            </a:r>
            <a:r>
              <a:rPr lang="cs-CZ" dirty="0" err="1"/>
              <a:t>Analysis</a:t>
            </a:r>
            <a:r>
              <a:rPr lang="cs-CZ" dirty="0"/>
              <a:t> </a:t>
            </a:r>
            <a:r>
              <a:rPr lang="cs-CZ" dirty="0" err="1"/>
              <a:t>Lecturer</a:t>
            </a:r>
            <a:endParaRPr lang="cs-CZ" dirty="0"/>
          </a:p>
          <a:p>
            <a:r>
              <a:rPr lang="cs-CZ" dirty="0"/>
              <a:t>In </a:t>
            </a:r>
            <a:r>
              <a:rPr lang="cs-CZ" dirty="0" err="1"/>
              <a:t>the</a:t>
            </a:r>
            <a:r>
              <a:rPr lang="cs-CZ" dirty="0"/>
              <a:t> Data </a:t>
            </a:r>
            <a:r>
              <a:rPr lang="cs-CZ" dirty="0" err="1"/>
              <a:t>field</a:t>
            </a:r>
            <a:r>
              <a:rPr lang="cs-CZ" dirty="0"/>
              <a:t> </a:t>
            </a:r>
            <a:r>
              <a:rPr lang="cs-CZ" dirty="0" err="1"/>
              <a:t>since</a:t>
            </a:r>
            <a:r>
              <a:rPr lang="cs-CZ" dirty="0"/>
              <a:t> 201</a:t>
            </a:r>
            <a:r>
              <a:rPr lang="en-US" dirty="0"/>
              <a:t>8</a:t>
            </a:r>
            <a:r>
              <a:rPr lang="cs-CZ" dirty="0"/>
              <a:t>, </a:t>
            </a:r>
            <a:r>
              <a:rPr lang="cs-CZ" dirty="0" err="1"/>
              <a:t>mainly</a:t>
            </a:r>
            <a:r>
              <a:rPr lang="cs-CZ" dirty="0"/>
              <a:t> </a:t>
            </a:r>
            <a:r>
              <a:rPr lang="cs-CZ" dirty="0" err="1"/>
              <a:t>focused</a:t>
            </a:r>
            <a:r>
              <a:rPr lang="cs-CZ" dirty="0"/>
              <a:t> on </a:t>
            </a:r>
            <a:r>
              <a:rPr lang="cs-CZ" dirty="0" err="1"/>
              <a:t>Power</a:t>
            </a:r>
            <a:r>
              <a:rPr lang="cs-CZ" dirty="0"/>
              <a:t> </a:t>
            </a:r>
            <a:r>
              <a:rPr lang="cs-CZ" dirty="0" err="1"/>
              <a:t>Platform</a:t>
            </a:r>
            <a:r>
              <a:rPr lang="cs-CZ" dirty="0"/>
              <a:t> and technology data</a:t>
            </a:r>
          </a:p>
          <a:p>
            <a:r>
              <a:rPr lang="cs-CZ" dirty="0" err="1"/>
              <a:t>Power</a:t>
            </a:r>
            <a:r>
              <a:rPr lang="cs-CZ" dirty="0"/>
              <a:t> BI </a:t>
            </a:r>
            <a:r>
              <a:rPr lang="cs-CZ" dirty="0" err="1"/>
              <a:t>lecturer</a:t>
            </a:r>
            <a:r>
              <a:rPr lang="cs-CZ" dirty="0"/>
              <a:t> </a:t>
            </a:r>
            <a:r>
              <a:rPr lang="cs-CZ" dirty="0" err="1"/>
              <a:t>since</a:t>
            </a:r>
            <a:r>
              <a:rPr lang="cs-CZ" dirty="0"/>
              <a:t> 2022</a:t>
            </a:r>
          </a:p>
          <a:p>
            <a:r>
              <a:rPr lang="cs-CZ" dirty="0"/>
              <a:t>PL</a:t>
            </a:r>
            <a:r>
              <a:rPr lang="en-US" dirty="0"/>
              <a:t>-300, DP-600 and DP-700 certifications</a:t>
            </a:r>
            <a:endParaRPr lang="cs-CZ" dirty="0"/>
          </a:p>
          <a:p>
            <a:r>
              <a:rPr lang="en-US" dirty="0"/>
              <a:t>In my free time I like to travel, play board games </a:t>
            </a:r>
            <a:br>
              <a:rPr lang="en-US" dirty="0"/>
            </a:br>
            <a:r>
              <a:rPr lang="en-US" dirty="0"/>
              <a:t>and spend time outdoors</a:t>
            </a:r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6C9A8BC-0764-7D21-AD78-E71C2C78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 rtl="0"/>
            <a:fld id="{B3E67A37-2C84-43F9-98FC-3C7625339A06}" type="datetime1">
              <a:rPr lang="cs-CZ" smtClean="0"/>
              <a:t>08.05.2026</a:t>
            </a:fld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0D848EE-F414-3F77-9FAC-1D2D06CB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/>
          </a:p>
        </p:txBody>
      </p:sp>
      <p:pic>
        <p:nvPicPr>
          <p:cNvPr id="16" name="Obrázek 15" descr="Obsah obrázku oblečení, osoba, Lidská tvář, zeď&#10;&#10;Popis byl vytvořen automaticky">
            <a:extLst>
              <a:ext uri="{FF2B5EF4-FFF2-40B4-BE49-F238E27FC236}">
                <a16:creationId xmlns:a16="http://schemas.microsoft.com/office/drawing/2014/main" id="{183B0D6B-2541-8D1F-99BE-E3E639D83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174" y="1940144"/>
            <a:ext cx="2389768" cy="354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7455-6F7F-30EA-240D-DC3FDFB3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E494110-BC15-1C9F-6E08-D17A3AA7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ISSUES WITH INCORRECT POWER BI GOVERNANCE</a:t>
            </a:r>
            <a:endParaRPr lang="cs-CZ" sz="2800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4253F53-E8CE-233A-8F91-81C591EF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9028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28004"/>
            <a:ext cx="5193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/>
              <a:t>Too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8151" y="2228004"/>
            <a:ext cx="1880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/>
              <a:t>Too Locked Down</a:t>
            </a:r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2EA57FA9-3FFA-ED25-607F-88E67D5F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1190582"/>
          </a:xfrm>
        </p:spPr>
        <p:txBody>
          <a:bodyPr>
            <a:normAutofit/>
          </a:bodyPr>
          <a:lstStyle/>
          <a:p>
            <a:r>
              <a:rPr lang="en-US" sz="2800" b="1" dirty="0"/>
              <a:t>Two ways this goes wrong</a:t>
            </a:r>
            <a:br>
              <a:rPr lang="en-US" sz="2800" b="1" dirty="0"/>
            </a:br>
            <a:endParaRPr lang="cs-CZ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AC685AF2-2B1D-EFE0-F4B4-7CEBD347F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42" y="2905100"/>
            <a:ext cx="5193414" cy="2955951"/>
          </a:xfrm>
        </p:spPr>
        <p:txBody>
          <a:bodyPr/>
          <a:lstStyle/>
          <a:p>
            <a:r>
              <a:rPr lang="en-US" sz="1800" dirty="0"/>
              <a:t>Mass number of reports, nobody knows which one is right</a:t>
            </a:r>
          </a:p>
          <a:p>
            <a:r>
              <a:rPr lang="en-US" sz="1800" dirty="0"/>
              <a:t>Duplicate datasets, conflicting numbers</a:t>
            </a:r>
          </a:p>
          <a:p>
            <a:r>
              <a:rPr lang="en-US" sz="1800" dirty="0"/>
              <a:t>Sensitive data shared with the wrong people</a:t>
            </a:r>
          </a:p>
          <a:p>
            <a:r>
              <a:rPr lang="en-US" sz="1800" dirty="0"/>
              <a:t>"Which sales figure should I trust?"</a:t>
            </a:r>
          </a:p>
          <a:p>
            <a:endParaRPr lang="cs-CZ" dirty="0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EFB00F39-B7AC-E58A-0DB3-6FE193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4369" y="2685204"/>
            <a:ext cx="5193416" cy="3175847"/>
          </a:xfrm>
        </p:spPr>
        <p:txBody>
          <a:bodyPr/>
          <a:lstStyle/>
          <a:p>
            <a:r>
              <a:rPr lang="en-US" sz="1800" dirty="0"/>
              <a:t>3-week queue to get a simple report change</a:t>
            </a:r>
          </a:p>
          <a:p>
            <a:r>
              <a:rPr lang="en-US" sz="1800" dirty="0"/>
              <a:t>IT becomes the bottleneck for everything</a:t>
            </a:r>
          </a:p>
          <a:p>
            <a:r>
              <a:rPr lang="en-US" sz="1800" dirty="0"/>
              <a:t>Users build it in Excel anyway</a:t>
            </a:r>
          </a:p>
          <a:p>
            <a:r>
              <a:rPr lang="en-US" sz="1800" dirty="0"/>
              <a:t>BI team is busy, business is frustrated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00A30303-F352-E7F0-81A2-A9C47243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1 — The Chaotic Workspace</a:t>
            </a:r>
            <a:endParaRPr lang="cs-CZ" sz="2800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E59E3373-9AE3-817B-07B5-616756E7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006BFA-126E-915E-3D93-3D8C03FE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8F90B38D-AD2F-8540-D72B-61DBFE2D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1 — The Chaotic Workspace</a:t>
            </a:r>
            <a:endParaRPr lang="cs-CZ" sz="2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6C2354-92E0-FF1E-57F5-B4949B89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Workspace with multiple: duplicates, v1/v2/FINAL/FINAL REAL naming</a:t>
            </a:r>
          </a:p>
          <a:p>
            <a:r>
              <a:rPr lang="en-US" dirty="0"/>
              <a:t>Datasets with no description, stale refresh dates</a:t>
            </a:r>
          </a:p>
          <a:p>
            <a:r>
              <a:rPr lang="en-US" dirty="0"/>
              <a:t>Workspace access —people with Edit or Admin who shouldn't have it</a:t>
            </a:r>
          </a:p>
        </p:txBody>
      </p:sp>
    </p:spTree>
    <p:extLst>
      <p:ext uri="{BB962C8B-B14F-4D97-AF65-F5344CB8AC3E}">
        <p14:creationId xmlns:p14="http://schemas.microsoft.com/office/powerpoint/2010/main" val="169197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A31EDD-A7A2-5C05-C97A-229AE2D6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0AD880E-3930-EF70-CC76-C23A5FB5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1 — The Chaotic Workspace</a:t>
            </a:r>
            <a:endParaRPr lang="cs-CZ" sz="2800" dirty="0"/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ACCCA58E-0412-1104-A279-4EE8C925D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1465" y="1463040"/>
            <a:ext cx="10845893" cy="46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0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891CD26-5FEA-3C10-1BD3-34885B844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Why getting governance right is genuinely difficult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1A3158C-E69C-7ECA-CE66-194E16503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6000" indent="-306000" defTabSz="457200"/>
            <a:r>
              <a:rPr lang="en-US" sz="1700" dirty="0"/>
              <a:t>Self-service BI was sold as the solution to IT bottlenecks</a:t>
            </a:r>
          </a:p>
          <a:p>
            <a:pPr marL="306000" indent="-306000" defTabSz="457200"/>
            <a:r>
              <a:rPr lang="en-US" sz="1700" dirty="0"/>
              <a:t>But freedom without structure creates its own problems</a:t>
            </a:r>
          </a:p>
          <a:p>
            <a:pPr marL="306000" indent="-306000" defTabSz="457200"/>
            <a:r>
              <a:rPr lang="en-US" sz="1700" dirty="0"/>
              <a:t>Business users want speed; IT wants control; security wants neither</a:t>
            </a:r>
          </a:p>
          <a:p>
            <a:pPr marL="306000" indent="-306000" defTabSz="457200"/>
            <a:r>
              <a:rPr lang="en-US" sz="1700" dirty="0"/>
              <a:t>There's no universal answer, context determines the model</a:t>
            </a:r>
          </a:p>
          <a:p>
            <a:pPr marL="0" indent="0"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dpis 13">
            <a:extLst>
              <a:ext uri="{FF2B5EF4-FFF2-40B4-BE49-F238E27FC236}">
                <a16:creationId xmlns:a16="http://schemas.microsoft.com/office/drawing/2014/main" id="{2ECD1368-A18E-D57B-69EE-A3503F22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Why both extremes cost you more than you think</a:t>
            </a:r>
            <a:endParaRPr lang="cs-CZ" dirty="0"/>
          </a:p>
        </p:txBody>
      </p:sp>
      <p:sp>
        <p:nvSpPr>
          <p:cNvPr id="15" name="Zástupný text 14">
            <a:extLst>
              <a:ext uri="{FF2B5EF4-FFF2-40B4-BE49-F238E27FC236}">
                <a16:creationId xmlns:a16="http://schemas.microsoft.com/office/drawing/2014/main" id="{7B2CC318-516E-A86F-C4D1-AE8587028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 b="1" dirty="0"/>
              <a:t>No </a:t>
            </a:r>
            <a:r>
              <a:rPr lang="cs-CZ" sz="2000" b="1" dirty="0" err="1"/>
              <a:t>governance</a:t>
            </a:r>
            <a:endParaRPr lang="cs-CZ" sz="2000" b="1" dirty="0"/>
          </a:p>
        </p:txBody>
      </p:sp>
      <p:sp>
        <p:nvSpPr>
          <p:cNvPr id="16" name="Zástupný obsah 15">
            <a:extLst>
              <a:ext uri="{FF2B5EF4-FFF2-40B4-BE49-F238E27FC236}">
                <a16:creationId xmlns:a16="http://schemas.microsoft.com/office/drawing/2014/main" id="{7A726C74-97FD-FD42-3DFA-01DC506AED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Duplicate reports, no naming conventions, no trust in data</a:t>
            </a:r>
          </a:p>
          <a:p>
            <a:r>
              <a:rPr lang="en-US" sz="1800" dirty="0"/>
              <a:t>Security incidents happen silently (wrong people see sensitive data)</a:t>
            </a:r>
          </a:p>
          <a:p>
            <a:r>
              <a:rPr lang="en-US" sz="1800" dirty="0"/>
              <a:t>Unused reports cluttering the tenant</a:t>
            </a:r>
          </a:p>
          <a:p>
            <a:endParaRPr lang="cs-CZ" dirty="0"/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501BB33B-895C-BA2D-2352-F439AFF73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000" b="1" dirty="0" err="1"/>
              <a:t>Over-governance</a:t>
            </a:r>
            <a:endParaRPr lang="cs-CZ" sz="2000" b="1" dirty="0"/>
          </a:p>
        </p:txBody>
      </p:sp>
      <p:sp>
        <p:nvSpPr>
          <p:cNvPr id="18" name="Zástupný obsah 17">
            <a:extLst>
              <a:ext uri="{FF2B5EF4-FFF2-40B4-BE49-F238E27FC236}">
                <a16:creationId xmlns:a16="http://schemas.microsoft.com/office/drawing/2014/main" id="{67D0035C-2E07-ADEA-096A-C1D0536DBA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Sensitive data moves to email attachments and shared drives instead</a:t>
            </a:r>
          </a:p>
          <a:p>
            <a:r>
              <a:rPr lang="en-US" sz="1800" dirty="0"/>
              <a:t>Response to business requirements is too slow</a:t>
            </a:r>
          </a:p>
          <a:p>
            <a:r>
              <a:rPr lang="en-US" sz="1800" dirty="0"/>
              <a:t>Drive to improve reporting falters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B30BD-89BD-56CB-6B92-CBB2AAD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6F3D0D10-F1CE-3B26-92ED-CE70505D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OVERVIEW OF THREE MAIN GOVERNANCE MODELS</a:t>
            </a:r>
            <a:endParaRPr lang="cs-CZ" sz="2800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1CBBE9F-40C7-B070-2343-AB3CC5AB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8316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681C-BFF8-C144-1714-2B7669BA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37F488E8-2EA7-69A1-DE51-D2276DB8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Three governance models — and when each fits</a:t>
            </a:r>
            <a:endParaRPr lang="cs-CZ" dirty="0"/>
          </a:p>
        </p:txBody>
      </p:sp>
      <p:graphicFrame>
        <p:nvGraphicFramePr>
          <p:cNvPr id="12" name="Zástupný obsah 2">
            <a:extLst>
              <a:ext uri="{FF2B5EF4-FFF2-40B4-BE49-F238E27FC236}">
                <a16:creationId xmlns:a16="http://schemas.microsoft.com/office/drawing/2014/main" id="{8715C297-0D6A-BA36-9751-A02260045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9728795"/>
              </p:ext>
            </p:extLst>
          </p:nvPr>
        </p:nvGraphicFramePr>
        <p:xfrm>
          <a:off x="581025" y="2341563"/>
          <a:ext cx="110299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8">
                  <a:extLst>
                    <a:ext uri="{9D8B030D-6E8A-4147-A177-3AD203B41FA5}">
                      <a16:colId xmlns:a16="http://schemas.microsoft.com/office/drawing/2014/main" val="4215587465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283155300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1832985807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1429401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IT</a:t>
                      </a:r>
                      <a:r>
                        <a:rPr lang="en-US" dirty="0"/>
                        <a:t>-</a:t>
                      </a:r>
                      <a:r>
                        <a:rPr lang="cs-CZ" dirty="0" err="1"/>
                        <a:t>centric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Federated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Self</a:t>
                      </a:r>
                      <a:r>
                        <a:rPr lang="en-US" dirty="0"/>
                        <a:t>-</a:t>
                      </a:r>
                      <a:r>
                        <a:rPr lang="cs-CZ" dirty="0" err="1"/>
                        <a:t>Service</a:t>
                      </a:r>
                      <a:endParaRPr lang="cs-CZ" dirty="0"/>
                    </a:p>
                  </a:txBody>
                  <a:tcPr marL="95913" marR="95913"/>
                </a:tc>
                <a:extLst>
                  <a:ext uri="{0D108BD9-81ED-4DB2-BD59-A6C34878D82A}">
                    <a16:rowId xmlns:a16="http://schemas.microsoft.com/office/drawing/2014/main" val="138229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b="1" dirty="0" err="1"/>
                        <a:t>Who</a:t>
                      </a:r>
                      <a:r>
                        <a:rPr lang="cs-CZ" b="1" dirty="0"/>
                        <a:t> </a:t>
                      </a:r>
                      <a:r>
                        <a:rPr lang="cs-CZ" b="1" dirty="0" err="1"/>
                        <a:t>builds</a:t>
                      </a:r>
                      <a:endParaRPr lang="cs-CZ" b="1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IT </a:t>
                      </a:r>
                      <a:r>
                        <a:rPr lang="cs-CZ" dirty="0" err="1"/>
                        <a:t>only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IT + business</a:t>
                      </a:r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Business</a:t>
                      </a:r>
                    </a:p>
                  </a:txBody>
                  <a:tcPr marL="95913" marR="95913"/>
                </a:tc>
                <a:extLst>
                  <a:ext uri="{0D108BD9-81ED-4DB2-BD59-A6C34878D82A}">
                    <a16:rowId xmlns:a16="http://schemas.microsoft.com/office/drawing/2014/main" val="274637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b="1" dirty="0"/>
                        <a:t>Speed</a:t>
                      </a:r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Slow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Balanced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Fast</a:t>
                      </a:r>
                    </a:p>
                  </a:txBody>
                  <a:tcPr marL="95913" marR="95913"/>
                </a:tc>
                <a:extLst>
                  <a:ext uri="{0D108BD9-81ED-4DB2-BD59-A6C34878D82A}">
                    <a16:rowId xmlns:a16="http://schemas.microsoft.com/office/drawing/2014/main" val="250195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b="1" dirty="0" err="1"/>
                        <a:t>Control</a:t>
                      </a:r>
                      <a:endParaRPr lang="cs-CZ" b="1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High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Medium</a:t>
                      </a:r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Low</a:t>
                      </a:r>
                      <a:endParaRPr lang="cs-CZ" dirty="0"/>
                    </a:p>
                  </a:txBody>
                  <a:tcPr marL="95913" marR="95913"/>
                </a:tc>
                <a:extLst>
                  <a:ext uri="{0D108BD9-81ED-4DB2-BD59-A6C34878D82A}">
                    <a16:rowId xmlns:a16="http://schemas.microsoft.com/office/drawing/2014/main" val="224439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b="1" dirty="0"/>
                        <a:t>Best </a:t>
                      </a:r>
                      <a:r>
                        <a:rPr lang="cs-CZ" b="1" dirty="0" err="1"/>
                        <a:t>for</a:t>
                      </a:r>
                      <a:endParaRPr lang="cs-CZ" b="1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Regulated</a:t>
                      </a:r>
                      <a:r>
                        <a:rPr lang="cs-CZ" dirty="0"/>
                        <a:t> </a:t>
                      </a:r>
                      <a:r>
                        <a:rPr lang="cs-CZ" dirty="0" err="1"/>
                        <a:t>industries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Most </a:t>
                      </a:r>
                      <a:r>
                        <a:rPr lang="cs-CZ" dirty="0" err="1"/>
                        <a:t>organizations</a:t>
                      </a:r>
                      <a:endParaRPr lang="cs-CZ" dirty="0"/>
                    </a:p>
                  </a:txBody>
                  <a:tcPr marL="95913" marR="95913"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High</a:t>
                      </a:r>
                      <a:r>
                        <a:rPr lang="en-US" dirty="0"/>
                        <a:t>-</a:t>
                      </a:r>
                      <a:r>
                        <a:rPr lang="cs-CZ" dirty="0"/>
                        <a:t>maturity </a:t>
                      </a:r>
                      <a:r>
                        <a:rPr lang="cs-CZ" dirty="0" err="1"/>
                        <a:t>small</a:t>
                      </a:r>
                      <a:r>
                        <a:rPr lang="cs-CZ" dirty="0"/>
                        <a:t> </a:t>
                      </a:r>
                      <a:r>
                        <a:rPr lang="cs-CZ" dirty="0" err="1"/>
                        <a:t>orgs</a:t>
                      </a:r>
                      <a:endParaRPr lang="cs-CZ" dirty="0"/>
                    </a:p>
                  </a:txBody>
                  <a:tcPr marL="95913" marR="95913"/>
                </a:tc>
                <a:extLst>
                  <a:ext uri="{0D108BD9-81ED-4DB2-BD59-A6C34878D82A}">
                    <a16:rowId xmlns:a16="http://schemas.microsoft.com/office/drawing/2014/main" val="2792083811"/>
                  </a:ext>
                </a:extLst>
              </a:tr>
            </a:tbl>
          </a:graphicData>
        </a:graphic>
      </p:graphicFrame>
      <p:sp>
        <p:nvSpPr>
          <p:cNvPr id="13" name="Zástupný obsah 4">
            <a:extLst>
              <a:ext uri="{FF2B5EF4-FFF2-40B4-BE49-F238E27FC236}">
                <a16:creationId xmlns:a16="http://schemas.microsoft.com/office/drawing/2014/main" id="{87F71F1A-0AB4-A060-D07A-2EA74081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443984"/>
            <a:ext cx="10943295" cy="1531366"/>
          </a:xfrm>
        </p:spPr>
        <p:txBody>
          <a:bodyPr>
            <a:normAutofit/>
          </a:bodyPr>
          <a:lstStyle/>
          <a:p>
            <a:r>
              <a:rPr lang="en-US" sz="1700" dirty="0"/>
              <a:t>Most organizations should be in the Federated column.</a:t>
            </a:r>
          </a:p>
          <a:p>
            <a:r>
              <a:rPr lang="en-US" sz="1700" dirty="0"/>
              <a:t>The question is exactly where on the spectrum.</a:t>
            </a:r>
          </a:p>
        </p:txBody>
      </p:sp>
    </p:spTree>
    <p:extLst>
      <p:ext uri="{BB962C8B-B14F-4D97-AF65-F5344CB8AC3E}">
        <p14:creationId xmlns:p14="http://schemas.microsoft.com/office/powerpoint/2010/main" val="336233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>
            <a:extLst>
              <a:ext uri="{FF2B5EF4-FFF2-40B4-BE49-F238E27FC236}">
                <a16:creationId xmlns:a16="http://schemas.microsoft.com/office/drawing/2014/main" id="{B3559956-BE61-CE2D-7D73-C921E90B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2800" b="1" dirty="0" err="1"/>
              <a:t>The</a:t>
            </a:r>
            <a:r>
              <a:rPr lang="cs-CZ" sz="2800" b="1" dirty="0"/>
              <a:t> IT-</a:t>
            </a:r>
            <a:r>
              <a:rPr lang="cs-CZ" sz="2800" b="1" dirty="0" err="1"/>
              <a:t>centric</a:t>
            </a:r>
            <a:r>
              <a:rPr lang="cs-CZ" sz="2800" b="1" dirty="0"/>
              <a:t> model</a:t>
            </a:r>
            <a:endParaRPr lang="cs-CZ" dirty="0"/>
          </a:p>
        </p:txBody>
      </p:sp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5269185B-FF44-E4FF-CB66-36E31D961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 b="1" dirty="0" err="1"/>
              <a:t>What</a:t>
            </a:r>
            <a:r>
              <a:rPr lang="cs-CZ" sz="2000" b="1" dirty="0"/>
              <a:t> </a:t>
            </a:r>
            <a:r>
              <a:rPr lang="cs-CZ" sz="2000" b="1" dirty="0" err="1"/>
              <a:t>it</a:t>
            </a:r>
            <a:r>
              <a:rPr lang="cs-CZ" sz="2000" b="1" dirty="0"/>
              <a:t> </a:t>
            </a:r>
            <a:r>
              <a:rPr lang="cs-CZ" sz="2000" b="1" dirty="0" err="1"/>
              <a:t>looks</a:t>
            </a:r>
            <a:r>
              <a:rPr lang="cs-CZ" sz="2000" b="1" dirty="0"/>
              <a:t> </a:t>
            </a:r>
            <a:r>
              <a:rPr lang="cs-CZ" sz="2000" b="1" dirty="0" err="1"/>
              <a:t>like</a:t>
            </a:r>
            <a:endParaRPr lang="cs-CZ" sz="2000" b="1" dirty="0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EEDB1B8E-6E11-39D6-B279-FAC789A9C1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Central IT owns all datasets, reports, and dashboards</a:t>
            </a:r>
          </a:p>
          <a:p>
            <a:r>
              <a:rPr lang="en-US" sz="1800" dirty="0"/>
              <a:t>Business users are consumers only (no self-service building)</a:t>
            </a:r>
          </a:p>
          <a:p>
            <a:r>
              <a:rPr lang="en-US" sz="1800" dirty="0"/>
              <a:t>All changes go through a formal request and approval process</a:t>
            </a:r>
          </a:p>
          <a:p>
            <a:r>
              <a:rPr lang="en-US" sz="1800" dirty="0"/>
              <a:t>Strong version control, change management, audit trails</a:t>
            </a:r>
          </a:p>
          <a:p>
            <a:endParaRPr lang="cs-CZ" dirty="0"/>
          </a:p>
        </p:txBody>
      </p:sp>
      <p:sp>
        <p:nvSpPr>
          <p:cNvPr id="13" name="Zástupný text 12">
            <a:extLst>
              <a:ext uri="{FF2B5EF4-FFF2-40B4-BE49-F238E27FC236}">
                <a16:creationId xmlns:a16="http://schemas.microsoft.com/office/drawing/2014/main" id="{885E18F4-9E4B-2969-6318-B9E62D93F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000" b="1" dirty="0" err="1"/>
              <a:t>When</a:t>
            </a:r>
            <a:r>
              <a:rPr lang="cs-CZ" sz="2000" b="1" dirty="0"/>
              <a:t> </a:t>
            </a:r>
            <a:r>
              <a:rPr lang="cs-CZ" sz="2000" b="1" dirty="0" err="1"/>
              <a:t>it</a:t>
            </a:r>
            <a:r>
              <a:rPr lang="cs-CZ" sz="2000" b="1" dirty="0"/>
              <a:t> </a:t>
            </a:r>
            <a:r>
              <a:rPr lang="cs-CZ" sz="2000" b="1" dirty="0" err="1"/>
              <a:t>fits</a:t>
            </a:r>
            <a:endParaRPr lang="cs-CZ" sz="2000" b="1" dirty="0"/>
          </a:p>
        </p:txBody>
      </p:sp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9E700EDD-5536-DBD5-CD01-DD4D79600E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dirty="0"/>
              <a:t>Highly regulated industries (finance, healthcare, government)</a:t>
            </a:r>
          </a:p>
          <a:p>
            <a:r>
              <a:rPr lang="en-US" sz="1800" dirty="0"/>
              <a:t>Very sensitive data, low risk tolerance</a:t>
            </a:r>
          </a:p>
          <a:p>
            <a:r>
              <a:rPr lang="en-US" sz="1800" dirty="0"/>
              <a:t>Organizations with low data literacy across business units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>
            <a:extLst>
              <a:ext uri="{FF2B5EF4-FFF2-40B4-BE49-F238E27FC236}">
                <a16:creationId xmlns:a16="http://schemas.microsoft.com/office/drawing/2014/main" id="{5F09B1F8-8E41-3ACA-37D0-18F81BA2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2800" b="1" dirty="0" err="1"/>
              <a:t>The</a:t>
            </a:r>
            <a:r>
              <a:rPr lang="cs-CZ" sz="2800" b="1" dirty="0"/>
              <a:t> full </a:t>
            </a:r>
            <a:r>
              <a:rPr lang="cs-CZ" sz="2800" b="1" dirty="0" err="1"/>
              <a:t>self-service</a:t>
            </a:r>
            <a:r>
              <a:rPr lang="cs-CZ" sz="2800" b="1" dirty="0"/>
              <a:t> model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EFD09C3F-1616-98AA-3FC2-9E9C37B6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 b="1" dirty="0" err="1"/>
              <a:t>What</a:t>
            </a:r>
            <a:r>
              <a:rPr lang="cs-CZ" sz="2000" b="1" dirty="0"/>
              <a:t> </a:t>
            </a:r>
            <a:r>
              <a:rPr lang="cs-CZ" sz="2000" b="1" dirty="0" err="1"/>
              <a:t>it</a:t>
            </a:r>
            <a:r>
              <a:rPr lang="cs-CZ" sz="2000" b="1" dirty="0"/>
              <a:t> </a:t>
            </a:r>
            <a:r>
              <a:rPr lang="cs-CZ" sz="2000" b="1" dirty="0" err="1"/>
              <a:t>looks</a:t>
            </a:r>
            <a:r>
              <a:rPr lang="cs-CZ" sz="2000" b="1" dirty="0"/>
              <a:t> </a:t>
            </a:r>
            <a:r>
              <a:rPr lang="cs-CZ" sz="2000" b="1" dirty="0" err="1"/>
              <a:t>like</a:t>
            </a:r>
            <a:endParaRPr lang="cs-CZ" sz="2000" b="1" dirty="0"/>
          </a:p>
        </p:txBody>
      </p:sp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A257333C-10E9-EFD4-8F91-3568555384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/>
              <a:t>Anyone can build and publish reports freely</a:t>
            </a:r>
          </a:p>
          <a:p>
            <a:r>
              <a:rPr lang="en-US" sz="1800" dirty="0"/>
              <a:t>Minimal central oversight or approval</a:t>
            </a:r>
          </a:p>
          <a:p>
            <a:r>
              <a:rPr lang="en-US" sz="1800" dirty="0"/>
              <a:t>Business units own their own workspaces and data</a:t>
            </a:r>
          </a:p>
          <a:p>
            <a:r>
              <a:rPr lang="en-US" sz="1800" dirty="0"/>
              <a:t>IT provides tools and training, not content</a:t>
            </a:r>
          </a:p>
          <a:p>
            <a:endParaRPr lang="cs-CZ" dirty="0"/>
          </a:p>
        </p:txBody>
      </p:sp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02D821CD-C8F0-B31E-ECF1-740E80E00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000" b="1" dirty="0" err="1"/>
              <a:t>When</a:t>
            </a:r>
            <a:r>
              <a:rPr lang="cs-CZ" sz="2000" b="1" dirty="0"/>
              <a:t> </a:t>
            </a:r>
            <a:r>
              <a:rPr lang="cs-CZ" sz="2000" b="1" dirty="0" err="1"/>
              <a:t>it</a:t>
            </a:r>
            <a:r>
              <a:rPr lang="cs-CZ" sz="2000" b="1" dirty="0"/>
              <a:t> </a:t>
            </a:r>
            <a:r>
              <a:rPr lang="cs-CZ" sz="2000" b="1" dirty="0" err="1"/>
              <a:t>fits</a:t>
            </a:r>
            <a:endParaRPr lang="cs-CZ" sz="2000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25FA29AB-0263-50AE-76B2-CF93FDF860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dirty="0"/>
              <a:t>Small organizations with high data literacy</a:t>
            </a:r>
          </a:p>
          <a:p>
            <a:r>
              <a:rPr lang="en-US" sz="1800" dirty="0"/>
              <a:t>Low-sensitivity data environments</a:t>
            </a:r>
          </a:p>
          <a:p>
            <a:r>
              <a:rPr lang="en-US" sz="1800" dirty="0"/>
              <a:t>Strong existing culture of data ownership and accountability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913EE03C-B4D3-A49D-D38E-517918E0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The federated model — the realistic middle ground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72820B0-E563-BCD7-74E1-E90C2F31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Four layers:</a:t>
            </a:r>
          </a:p>
          <a:p>
            <a:r>
              <a:rPr lang="en-US" sz="1700" b="1" dirty="0"/>
              <a:t>1. Certified data layer — owned and maintained by IT/data team, endorsed, trusted</a:t>
            </a:r>
          </a:p>
          <a:p>
            <a:r>
              <a:rPr lang="en-US" sz="1700" b="1" dirty="0"/>
              <a:t>2. Enterprise reports — IT/BI built, formal, certified, broad audience</a:t>
            </a:r>
          </a:p>
          <a:p>
            <a:r>
              <a:rPr lang="en-US" sz="1700" b="1" dirty="0"/>
              <a:t>3. Self-service reports — business built, on top of the same certified data</a:t>
            </a:r>
          </a:p>
          <a:p>
            <a:r>
              <a:rPr lang="en-US" sz="1700" b="1" dirty="0"/>
              <a:t>4. Personal / exploratory — My Workspace, no guarantees, not for production</a:t>
            </a:r>
          </a:p>
          <a:p>
            <a:pPr marL="0" indent="0">
              <a:buNone/>
            </a:pPr>
            <a:endParaRPr lang="en-US" sz="1700" b="1" dirty="0"/>
          </a:p>
          <a:p>
            <a:r>
              <a:rPr lang="en-US" sz="1700" dirty="0"/>
              <a:t>Key principle: Govern the data layer tightly. Give flexibility above it.</a:t>
            </a:r>
          </a:p>
          <a:p>
            <a:r>
              <a:rPr lang="en-US" sz="1700" dirty="0"/>
              <a:t>Self-service doesn't mean building your own data</a:t>
            </a:r>
            <a:r>
              <a:rPr lang="cs-CZ" sz="1700" dirty="0"/>
              <a:t>. I</a:t>
            </a:r>
            <a:r>
              <a:rPr lang="en-US" sz="1700" dirty="0"/>
              <a:t>t means building your own reports on trusted data.</a:t>
            </a:r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026E-BB7D-6482-3BF6-A252C96D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EA5F90-2928-E294-5A3C-4D4C97FA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set up correct governance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39940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5D45-5F02-174E-2B79-2A5EF726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4C5579D1-5569-C1F5-420B-59CE44D8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nb-NO" sz="2800" b="1" dirty="0"/>
              <a:t>DEMO 2 — Admin Portal: Tenant Settings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41FD8A76-6123-5174-E504-44BBA528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5146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78DE51-2123-689C-1238-DC66F369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B1CB69-CD75-B47B-58A7-AA451287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359794-D8E4-43D6-2C7E-BAF441D20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Workspace creation: "All users" → recommend specific security groups</a:t>
            </a:r>
          </a:p>
          <a:p>
            <a:r>
              <a:rPr lang="en-US" dirty="0"/>
              <a:t>Publish to web: On → recommend Off</a:t>
            </a:r>
          </a:p>
          <a:p>
            <a:r>
              <a:rPr lang="en-US" dirty="0"/>
              <a:t>External sharing: On → </a:t>
            </a:r>
            <a:r>
              <a:rPr lang="cs-CZ" dirty="0" err="1"/>
              <a:t>Off</a:t>
            </a:r>
            <a:endParaRPr lang="en-US" dirty="0"/>
          </a:p>
          <a:p>
            <a:r>
              <a:rPr lang="en-US" dirty="0"/>
              <a:t>Certification: who can certify datasets → designated certifiers, not just admins</a:t>
            </a:r>
          </a:p>
          <a:p>
            <a:r>
              <a:rPr lang="en-US" dirty="0"/>
              <a:t>Sensitivity labels: Optional → Required on publish</a:t>
            </a:r>
          </a:p>
        </p:txBody>
      </p:sp>
    </p:spTree>
    <p:extLst>
      <p:ext uri="{BB962C8B-B14F-4D97-AF65-F5344CB8AC3E}">
        <p14:creationId xmlns:p14="http://schemas.microsoft.com/office/powerpoint/2010/main" val="4164470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2A43AE-6B38-C185-C7D6-7A8C80C9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762565-9148-928A-22F7-423FA4AA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2300795-7400-50E1-811E-43D98A878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736" y="1931237"/>
            <a:ext cx="2149409" cy="47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5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915664-9A2B-9056-A921-C7CAAF08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4D6E6C-B157-D850-3EBB-74D1389A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4043A58-9372-43DF-1C3A-508B80AB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76" y="1718435"/>
            <a:ext cx="6209550" cy="4800020"/>
          </a:xfrm>
          <a:prstGeom prst="rect">
            <a:avLst/>
          </a:prstGeom>
        </p:spPr>
      </p:pic>
      <p:sp>
        <p:nvSpPr>
          <p:cNvPr id="7" name="Zástupný obsah 3">
            <a:extLst>
              <a:ext uri="{FF2B5EF4-FFF2-40B4-BE49-F238E27FC236}">
                <a16:creationId xmlns:a16="http://schemas.microsoft.com/office/drawing/2014/main" id="{BF7C103D-523A-4255-E3A3-718B9E793646}"/>
              </a:ext>
            </a:extLst>
          </p:cNvPr>
          <p:cNvSpPr txBox="1">
            <a:spLocks/>
          </p:cNvSpPr>
          <p:nvPr/>
        </p:nvSpPr>
        <p:spPr>
          <a:xfrm>
            <a:off x="7930902" y="2996110"/>
            <a:ext cx="3085229" cy="2143456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99" dirty="0" err="1"/>
              <a:t>Workspaces</a:t>
            </a:r>
            <a:r>
              <a:rPr lang="cs-CZ" sz="1699" dirty="0"/>
              <a:t> </a:t>
            </a:r>
            <a:r>
              <a:rPr lang="cs-CZ" sz="1699" dirty="0" err="1"/>
              <a:t>should</a:t>
            </a:r>
            <a:r>
              <a:rPr lang="cs-CZ" sz="1699" dirty="0"/>
              <a:t> </a:t>
            </a:r>
            <a:r>
              <a:rPr lang="cs-CZ" sz="1699" dirty="0" err="1"/>
              <a:t>be</a:t>
            </a:r>
            <a:r>
              <a:rPr lang="cs-CZ" sz="1699" dirty="0"/>
              <a:t> </a:t>
            </a:r>
            <a:r>
              <a:rPr lang="cs-CZ" sz="1699" dirty="0" err="1"/>
              <a:t>created</a:t>
            </a:r>
            <a:r>
              <a:rPr lang="cs-CZ" sz="1699" dirty="0"/>
              <a:t> </a:t>
            </a:r>
            <a:r>
              <a:rPr lang="cs-CZ" sz="1699" dirty="0" err="1"/>
              <a:t>only</a:t>
            </a:r>
            <a:r>
              <a:rPr lang="cs-CZ" sz="1699" dirty="0"/>
              <a:t> by </a:t>
            </a:r>
            <a:r>
              <a:rPr lang="cs-CZ" sz="1699" b="1" dirty="0" err="1"/>
              <a:t>specific</a:t>
            </a:r>
            <a:r>
              <a:rPr lang="cs-CZ" sz="1699" b="1" dirty="0"/>
              <a:t> </a:t>
            </a:r>
            <a:r>
              <a:rPr lang="cs-CZ" sz="1699" b="1" dirty="0" err="1"/>
              <a:t>people</a:t>
            </a:r>
            <a:r>
              <a:rPr lang="cs-CZ" sz="1699" dirty="0"/>
              <a:t> </a:t>
            </a:r>
            <a:r>
              <a:rPr lang="cs-CZ" sz="1699" dirty="0" err="1"/>
              <a:t>or</a:t>
            </a:r>
            <a:r>
              <a:rPr lang="cs-CZ" sz="1699" dirty="0"/>
              <a:t> </a:t>
            </a:r>
            <a:r>
              <a:rPr lang="cs-CZ" sz="1699" b="1" dirty="0" err="1"/>
              <a:t>security</a:t>
            </a:r>
            <a:r>
              <a:rPr lang="cs-CZ" sz="1699" b="1" dirty="0"/>
              <a:t> </a:t>
            </a:r>
            <a:r>
              <a:rPr lang="cs-CZ" sz="1699" b="1" dirty="0" err="1"/>
              <a:t>groups</a:t>
            </a:r>
            <a:endParaRPr lang="en-US" sz="1699" b="1" dirty="0"/>
          </a:p>
          <a:p>
            <a:r>
              <a:rPr lang="en-US" sz="1699" dirty="0"/>
              <a:t>Not by any business user</a:t>
            </a:r>
            <a:endParaRPr lang="cs-CZ" sz="1699" dirty="0"/>
          </a:p>
        </p:txBody>
      </p:sp>
    </p:spTree>
    <p:extLst>
      <p:ext uri="{BB962C8B-B14F-4D97-AF65-F5344CB8AC3E}">
        <p14:creationId xmlns:p14="http://schemas.microsoft.com/office/powerpoint/2010/main" val="221221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892C75-406A-C0FA-4D2B-40E5A685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BC2268-9C7D-2E1B-E221-0354DA03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sp>
        <p:nvSpPr>
          <p:cNvPr id="7" name="Zástupný obsah 3">
            <a:extLst>
              <a:ext uri="{FF2B5EF4-FFF2-40B4-BE49-F238E27FC236}">
                <a16:creationId xmlns:a16="http://schemas.microsoft.com/office/drawing/2014/main" id="{5D21165E-42E0-E0F5-F171-278F3850F31B}"/>
              </a:ext>
            </a:extLst>
          </p:cNvPr>
          <p:cNvSpPr txBox="1">
            <a:spLocks/>
          </p:cNvSpPr>
          <p:nvPr/>
        </p:nvSpPr>
        <p:spPr>
          <a:xfrm>
            <a:off x="7930902" y="2996110"/>
            <a:ext cx="3085229" cy="2143456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99" dirty="0"/>
              <a:t>Unless specific business needs require publishing to web, disable to it to prevent data leaks</a:t>
            </a:r>
            <a:endParaRPr lang="cs-CZ" sz="1699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FBE3831-3E57-86A6-547C-81A7D2EC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10" y="2872595"/>
            <a:ext cx="5695261" cy="239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0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A666E8-9E4A-A6D8-BD0A-B9CD040C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74CB96-576E-CDCD-3115-2F99181B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sp>
        <p:nvSpPr>
          <p:cNvPr id="7" name="Zástupný obsah 3">
            <a:extLst>
              <a:ext uri="{FF2B5EF4-FFF2-40B4-BE49-F238E27FC236}">
                <a16:creationId xmlns:a16="http://schemas.microsoft.com/office/drawing/2014/main" id="{85BDB2D4-AA9F-9107-BBA8-ECAEF7AFA07D}"/>
              </a:ext>
            </a:extLst>
          </p:cNvPr>
          <p:cNvSpPr txBox="1">
            <a:spLocks/>
          </p:cNvSpPr>
          <p:nvPr/>
        </p:nvSpPr>
        <p:spPr>
          <a:xfrm>
            <a:off x="7930902" y="2996110"/>
            <a:ext cx="3085229" cy="2143456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99" dirty="0"/>
              <a:t>Data can leak outside of organization</a:t>
            </a:r>
            <a:endParaRPr lang="cs-CZ" sz="1699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BBC1139-2A4F-DC1D-459D-ACA9938A1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45" y="2320211"/>
            <a:ext cx="5866691" cy="349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35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23594A-9156-E518-A28A-EAE4C978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C9057C-42EF-5938-C526-16F23A5C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sp>
        <p:nvSpPr>
          <p:cNvPr id="7" name="Zástupný obsah 3">
            <a:extLst>
              <a:ext uri="{FF2B5EF4-FFF2-40B4-BE49-F238E27FC236}">
                <a16:creationId xmlns:a16="http://schemas.microsoft.com/office/drawing/2014/main" id="{49CD0228-F60F-2E24-9537-48C3FB04708B}"/>
              </a:ext>
            </a:extLst>
          </p:cNvPr>
          <p:cNvSpPr txBox="1">
            <a:spLocks/>
          </p:cNvSpPr>
          <p:nvPr/>
        </p:nvSpPr>
        <p:spPr>
          <a:xfrm>
            <a:off x="7930902" y="2996110"/>
            <a:ext cx="3085229" cy="2143456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99" dirty="0"/>
              <a:t>Data can leak outside of organization</a:t>
            </a:r>
            <a:endParaRPr lang="cs-CZ" sz="1699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6722C23-1AAC-4CE0-D2A9-61E4F3F3D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45" y="2320211"/>
            <a:ext cx="5866691" cy="349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71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717067-A231-412E-5DAA-FD037196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3D3E1A-6C1C-51F0-25E9-04E3B1C9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cs-CZ" dirty="0" err="1"/>
              <a:t>Tenant</a:t>
            </a:r>
            <a:r>
              <a:rPr lang="cs-CZ" dirty="0"/>
              <a:t> </a:t>
            </a:r>
            <a:r>
              <a:rPr lang="cs-CZ" dirty="0" err="1"/>
              <a:t>Settings</a:t>
            </a:r>
            <a:r>
              <a:rPr lang="cs-CZ" dirty="0"/>
              <a:t>: admin </a:t>
            </a:r>
            <a:r>
              <a:rPr lang="cs-CZ" dirty="0" err="1"/>
              <a:t>portal</a:t>
            </a:r>
            <a:r>
              <a:rPr lang="cs-CZ" dirty="0"/>
              <a:t> (</a:t>
            </a:r>
            <a:r>
              <a:rPr lang="cs-CZ" dirty="0" err="1"/>
              <a:t>backup</a:t>
            </a:r>
            <a:r>
              <a:rPr lang="cs-CZ" dirty="0"/>
              <a:t>)</a:t>
            </a:r>
          </a:p>
        </p:txBody>
      </p:sp>
      <p:sp>
        <p:nvSpPr>
          <p:cNvPr id="7" name="Zástupný obsah 3">
            <a:extLst>
              <a:ext uri="{FF2B5EF4-FFF2-40B4-BE49-F238E27FC236}">
                <a16:creationId xmlns:a16="http://schemas.microsoft.com/office/drawing/2014/main" id="{F2592231-D9FB-AACB-7FC2-FDDB82ADF125}"/>
              </a:ext>
            </a:extLst>
          </p:cNvPr>
          <p:cNvSpPr txBox="1">
            <a:spLocks/>
          </p:cNvSpPr>
          <p:nvPr/>
        </p:nvSpPr>
        <p:spPr>
          <a:xfrm>
            <a:off x="7930902" y="2996110"/>
            <a:ext cx="3085229" cy="2143456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99" dirty="0"/>
              <a:t>Certification is enabled but only four specific people or security groups</a:t>
            </a:r>
            <a:endParaRPr lang="cs-CZ" sz="1699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D879482-D67E-9C73-3FE7-9EF976BC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93" y="2015104"/>
            <a:ext cx="4690678" cy="444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96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8805FCE1-DB2F-8A4F-2B08-92D16DAB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semantic models from reports</a:t>
            </a:r>
            <a:endParaRPr lang="cs-CZ" dirty="0"/>
          </a:p>
        </p:txBody>
      </p:sp>
      <p:pic>
        <p:nvPicPr>
          <p:cNvPr id="7" name="Zástupný obsah 5">
            <a:extLst>
              <a:ext uri="{FF2B5EF4-FFF2-40B4-BE49-F238E27FC236}">
                <a16:creationId xmlns:a16="http://schemas.microsoft.com/office/drawing/2014/main" id="{F68B1642-E5AE-2195-5B53-B74DA7029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9038" y="2691402"/>
            <a:ext cx="8230749" cy="293410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C914-750F-4F8A-FF58-3902BB30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BDDA62DB-8438-6015-C2D4-9F624D40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Separating semantic models from reports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BEF439-1C89-0A46-6794-B382206E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IT </a:t>
            </a:r>
            <a:r>
              <a:rPr lang="cs-CZ" dirty="0" err="1"/>
              <a:t>governed</a:t>
            </a:r>
            <a:r>
              <a:rPr lang="cs-CZ" dirty="0"/>
              <a:t> </a:t>
            </a:r>
            <a:r>
              <a:rPr lang="cs-CZ" dirty="0" err="1"/>
              <a:t>Semantic</a:t>
            </a:r>
            <a:r>
              <a:rPr lang="cs-CZ" dirty="0"/>
              <a:t> model </a:t>
            </a:r>
            <a:r>
              <a:rPr lang="cs-CZ" dirty="0" err="1"/>
              <a:t>ready</a:t>
            </a:r>
            <a:r>
              <a:rPr lang="cs-CZ" dirty="0"/>
              <a:t> to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built</a:t>
            </a:r>
            <a:r>
              <a:rPr lang="cs-CZ" dirty="0"/>
              <a:t> </a:t>
            </a:r>
            <a:r>
              <a:rPr lang="cs-CZ" dirty="0" err="1"/>
              <a:t>upon</a:t>
            </a:r>
            <a:r>
              <a:rPr lang="cs-CZ" dirty="0"/>
              <a:t> by business</a:t>
            </a:r>
            <a:endParaRPr lang="en-US" dirty="0"/>
          </a:p>
          <a:p>
            <a:r>
              <a:rPr lang="en-US" dirty="0"/>
              <a:t>One semantic model feeds many report workspaces </a:t>
            </a:r>
            <a:r>
              <a:rPr lang="cs-CZ" dirty="0" err="1"/>
              <a:t>mean</a:t>
            </a:r>
            <a:r>
              <a:rPr lang="en-US" dirty="0" err="1"/>
              <a:t>ing</a:t>
            </a:r>
            <a:r>
              <a:rPr lang="cs-CZ" dirty="0"/>
              <a:t> </a:t>
            </a:r>
            <a:r>
              <a:rPr lang="en-US" dirty="0"/>
              <a:t>no duplication at the data layer</a:t>
            </a:r>
          </a:p>
          <a:p>
            <a:r>
              <a:rPr lang="en-US" dirty="0"/>
              <a:t>Workspace containing only semantic models without access for anyone except PBI Admins</a:t>
            </a:r>
          </a:p>
          <a:p>
            <a:r>
              <a:rPr lang="en-US" dirty="0"/>
              <a:t>Report builders get </a:t>
            </a:r>
            <a:r>
              <a:rPr lang="en-US" b="1" dirty="0"/>
              <a:t>Build</a:t>
            </a:r>
            <a:r>
              <a:rPr lang="en-US" dirty="0"/>
              <a:t> permission on the dataset, not access to the model workspace</a:t>
            </a:r>
          </a:p>
          <a:p>
            <a:r>
              <a:rPr lang="en-US" dirty="0"/>
              <a:t>Enterprise and self-service reports coexist without one polluting the other</a:t>
            </a:r>
          </a:p>
          <a:p>
            <a:r>
              <a:rPr lang="en-US" dirty="0"/>
              <a:t>Lineage stays clean</a:t>
            </a:r>
            <a:r>
              <a:rPr lang="cs-CZ" dirty="0"/>
              <a:t>, </a:t>
            </a:r>
            <a:r>
              <a:rPr lang="en-US" dirty="0"/>
              <a:t>you always know what depends on what</a:t>
            </a:r>
          </a:p>
        </p:txBody>
      </p:sp>
    </p:spTree>
    <p:extLst>
      <p:ext uri="{BB962C8B-B14F-4D97-AF65-F5344CB8AC3E}">
        <p14:creationId xmlns:p14="http://schemas.microsoft.com/office/powerpoint/2010/main" val="1425093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04F1FD00-7C28-9D06-EC77-6EF09474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57" y="933451"/>
            <a:ext cx="3031062" cy="1722419"/>
          </a:xfrm>
        </p:spPr>
        <p:txBody>
          <a:bodyPr anchor="b">
            <a:normAutofit/>
          </a:bodyPr>
          <a:lstStyle/>
          <a:p>
            <a:r>
              <a:rPr lang="en-US" dirty="0"/>
              <a:t>Choosing the right model for your organization</a:t>
            </a:r>
            <a:endParaRPr lang="cs-CZ" dirty="0"/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5BD6B6A8-DE0F-28AD-21F7-7DB8DE14F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34930" y="1179829"/>
            <a:ext cx="5578702" cy="4658216"/>
          </a:xfrm>
          <a:prstGeom prst="rect">
            <a:avLst/>
          </a:prstGeo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7E91254-90AF-395F-17CF-4130CCD59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657" y="2836654"/>
            <a:ext cx="3031062" cy="300139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AC01FB15-E3E8-1D77-39F0-6D4D346B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my experience</a:t>
            </a:r>
            <a:endParaRPr lang="cs-CZ" dirty="0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435B0AF8-09DF-F76A-2CA3-0C2580C04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 b="1" dirty="0" err="1"/>
              <a:t>What</a:t>
            </a:r>
            <a:r>
              <a:rPr lang="cs-CZ" sz="2000" b="1" dirty="0"/>
              <a:t> </a:t>
            </a:r>
            <a:r>
              <a:rPr lang="cs-CZ" sz="2000" b="1" dirty="0" err="1"/>
              <a:t>works</a:t>
            </a:r>
            <a:endParaRPr lang="cs-CZ" sz="2000" b="1" dirty="0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4573FF8D-28B5-A589-1905-5E38F49BC4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Start with the data layer, not the report layer</a:t>
            </a:r>
            <a:r>
              <a:rPr lang="cs-CZ" sz="1800" dirty="0"/>
              <a:t>. </a:t>
            </a:r>
            <a:r>
              <a:rPr lang="cs-CZ" sz="1800" dirty="0" err="1"/>
              <a:t>One</a:t>
            </a:r>
            <a:r>
              <a:rPr lang="cs-CZ" sz="1800" dirty="0"/>
              <a:t> </a:t>
            </a:r>
            <a:r>
              <a:rPr lang="cs-CZ" sz="1800" dirty="0" err="1"/>
              <a:t>shared</a:t>
            </a:r>
            <a:r>
              <a:rPr lang="cs-CZ" sz="1800" dirty="0"/>
              <a:t> </a:t>
            </a:r>
            <a:r>
              <a:rPr lang="cs-CZ" sz="1800" dirty="0" err="1"/>
              <a:t>semantic</a:t>
            </a:r>
            <a:r>
              <a:rPr lang="cs-CZ" sz="1800" dirty="0"/>
              <a:t> model </a:t>
            </a:r>
            <a:r>
              <a:rPr lang="cs-CZ" sz="1800" dirty="0" err="1"/>
              <a:t>is</a:t>
            </a:r>
            <a:r>
              <a:rPr lang="cs-CZ" sz="1800" dirty="0"/>
              <a:t> a </a:t>
            </a:r>
            <a:r>
              <a:rPr lang="cs-CZ" sz="1800" dirty="0" err="1"/>
              <a:t>great</a:t>
            </a:r>
            <a:r>
              <a:rPr lang="cs-CZ" sz="1800" dirty="0"/>
              <a:t> start</a:t>
            </a:r>
          </a:p>
          <a:p>
            <a:r>
              <a:rPr lang="en-US" sz="1800" dirty="0"/>
              <a:t>Find your </a:t>
            </a:r>
            <a:r>
              <a:rPr lang="cs-CZ" sz="1800" dirty="0"/>
              <a:t>Data </a:t>
            </a:r>
            <a:r>
              <a:rPr lang="cs-CZ" sz="1800" dirty="0" err="1"/>
              <a:t>Stewards</a:t>
            </a:r>
            <a:r>
              <a:rPr lang="en-US" sz="1800" dirty="0"/>
              <a:t> early </a:t>
            </a:r>
            <a:r>
              <a:rPr lang="cs-CZ" sz="1800" dirty="0"/>
              <a:t>(</a:t>
            </a:r>
            <a:r>
              <a:rPr lang="en-US" sz="1800" dirty="0"/>
              <a:t>one person per business unit who owns governance in their area</a:t>
            </a:r>
            <a:r>
              <a:rPr lang="cs-CZ" sz="1800" dirty="0"/>
              <a:t>)</a:t>
            </a:r>
            <a:r>
              <a:rPr lang="en-US" sz="1800" dirty="0"/>
              <a:t> </a:t>
            </a:r>
            <a:endParaRPr lang="cs-CZ" sz="1800" dirty="0"/>
          </a:p>
          <a:p>
            <a:r>
              <a:rPr lang="en-US" sz="1800" dirty="0"/>
              <a:t>Make the governed path the path of least resistance </a:t>
            </a:r>
            <a:r>
              <a:rPr lang="cs-CZ" sz="1800" dirty="0"/>
              <a:t>and </a:t>
            </a:r>
            <a:r>
              <a:rPr lang="cs-CZ" sz="1800" dirty="0" err="1"/>
              <a:t>greatest</a:t>
            </a:r>
            <a:r>
              <a:rPr lang="cs-CZ" sz="1800" dirty="0"/>
              <a:t> </a:t>
            </a:r>
            <a:r>
              <a:rPr lang="cs-CZ" sz="1800" dirty="0" err="1"/>
              <a:t>results</a:t>
            </a:r>
            <a:endParaRPr lang="en-US" sz="1800" dirty="0"/>
          </a:p>
          <a:p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C732625F-ADCA-A559-D7DA-B5341C6DF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b="1" dirty="0"/>
              <a:t>And what doesn’t</a:t>
            </a:r>
            <a:endParaRPr lang="cs-CZ" sz="2000" b="1" dirty="0"/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6EFB9A12-9843-1233-0C8A-06C7B59435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cs-CZ" sz="1800" dirty="0" err="1"/>
              <a:t>Governance</a:t>
            </a:r>
            <a:r>
              <a:rPr lang="cs-CZ" sz="1800" dirty="0"/>
              <a:t> </a:t>
            </a:r>
            <a:r>
              <a:rPr lang="cs-CZ" sz="1800" dirty="0" err="1"/>
              <a:t>written</a:t>
            </a:r>
            <a:r>
              <a:rPr lang="cs-CZ" sz="1800" dirty="0"/>
              <a:t> but not </a:t>
            </a:r>
            <a:r>
              <a:rPr lang="cs-CZ" sz="1800" dirty="0" err="1"/>
              <a:t>actively</a:t>
            </a:r>
            <a:r>
              <a:rPr lang="cs-CZ" sz="1800" dirty="0"/>
              <a:t> </a:t>
            </a:r>
            <a:r>
              <a:rPr lang="cs-CZ" sz="1800" dirty="0" err="1"/>
              <a:t>enforced</a:t>
            </a:r>
            <a:endParaRPr lang="en-US" sz="1800" dirty="0"/>
          </a:p>
          <a:p>
            <a:r>
              <a:rPr lang="cs-CZ" sz="1800" dirty="0"/>
              <a:t>„</a:t>
            </a:r>
            <a:r>
              <a:rPr lang="cs-CZ" sz="1800" dirty="0" err="1"/>
              <a:t>This</a:t>
            </a:r>
            <a:r>
              <a:rPr lang="cs-CZ" sz="1800" dirty="0"/>
              <a:t> </a:t>
            </a:r>
            <a:r>
              <a:rPr lang="cs-CZ" sz="1800" dirty="0" err="1"/>
              <a:t>time</a:t>
            </a:r>
            <a:r>
              <a:rPr lang="cs-CZ" sz="1800" dirty="0"/>
              <a:t> </a:t>
            </a:r>
            <a:r>
              <a:rPr lang="cs-CZ" sz="1800" dirty="0" err="1"/>
              <a:t>we</a:t>
            </a:r>
            <a:r>
              <a:rPr lang="cs-CZ" sz="1800" dirty="0"/>
              <a:t> </a:t>
            </a:r>
            <a:r>
              <a:rPr lang="cs-CZ" sz="1800" dirty="0" err="1"/>
              <a:t>can</a:t>
            </a:r>
            <a:r>
              <a:rPr lang="cs-CZ" sz="1800" dirty="0"/>
              <a:t> </a:t>
            </a:r>
            <a:r>
              <a:rPr lang="cs-CZ" sz="1800" dirty="0" err="1"/>
              <a:t>avoid</a:t>
            </a:r>
            <a:r>
              <a:rPr lang="cs-CZ" sz="1800" dirty="0"/>
              <a:t> </a:t>
            </a:r>
            <a:r>
              <a:rPr lang="cs-CZ" sz="1800" dirty="0" err="1"/>
              <a:t>governance</a:t>
            </a:r>
            <a:r>
              <a:rPr lang="cs-CZ" sz="1800" dirty="0"/>
              <a:t> to </a:t>
            </a:r>
            <a:r>
              <a:rPr lang="cs-CZ" sz="1800" dirty="0" err="1"/>
              <a:t>get</a:t>
            </a:r>
            <a:r>
              <a:rPr lang="cs-CZ" sz="1800" dirty="0"/>
              <a:t> </a:t>
            </a:r>
            <a:r>
              <a:rPr lang="cs-CZ" sz="1800" dirty="0" err="1"/>
              <a:t>things</a:t>
            </a:r>
            <a:r>
              <a:rPr lang="cs-CZ" sz="1800" dirty="0"/>
              <a:t> done </a:t>
            </a:r>
            <a:r>
              <a:rPr lang="cs-CZ" sz="1800" dirty="0" err="1"/>
              <a:t>faster</a:t>
            </a:r>
            <a:r>
              <a:rPr lang="cs-CZ" sz="1800" dirty="0"/>
              <a:t>“</a:t>
            </a:r>
            <a:endParaRPr lang="en-US" sz="1800" dirty="0"/>
          </a:p>
          <a:p>
            <a:r>
              <a:rPr lang="en-US" sz="1800" dirty="0"/>
              <a:t>IT owning it alone</a:t>
            </a:r>
            <a:r>
              <a:rPr lang="cs-CZ" sz="1800" dirty="0"/>
              <a:t>.</a:t>
            </a:r>
            <a:r>
              <a:rPr lang="en-US" sz="1800" dirty="0"/>
              <a:t> </a:t>
            </a:r>
            <a:r>
              <a:rPr lang="cs-CZ" sz="1800" dirty="0"/>
              <a:t>T</a:t>
            </a:r>
            <a:r>
              <a:rPr lang="en-US" sz="1800" dirty="0"/>
              <a:t>he business </a:t>
            </a:r>
            <a:r>
              <a:rPr lang="cs-CZ" sz="1800" dirty="0" err="1"/>
              <a:t>must</a:t>
            </a:r>
            <a:r>
              <a:rPr lang="cs-CZ" sz="1800" dirty="0"/>
              <a:t> </a:t>
            </a:r>
            <a:r>
              <a:rPr lang="cs-CZ" sz="1800" dirty="0" err="1"/>
              <a:t>participate</a:t>
            </a:r>
            <a:r>
              <a:rPr lang="cs-CZ" sz="1800" dirty="0"/>
              <a:t>.</a:t>
            </a:r>
            <a:endParaRPr lang="en-US" sz="1800" dirty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7974-A5A8-0572-1186-9C48D0EE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09617D6E-7E7C-2541-778E-915EB002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3 — The Governed Environment</a:t>
            </a:r>
            <a:r>
              <a:rPr lang="cs-CZ" sz="2800" b="1" dirty="0"/>
              <a:t>, </a:t>
            </a:r>
            <a:r>
              <a:rPr lang="cs-CZ" sz="2800" b="1" dirty="0" err="1"/>
              <a:t>concrete</a:t>
            </a:r>
            <a:r>
              <a:rPr lang="cs-CZ" sz="2800" b="1" dirty="0"/>
              <a:t> </a:t>
            </a:r>
            <a:r>
              <a:rPr lang="cs-CZ" sz="2800" b="1" dirty="0" err="1"/>
              <a:t>steps</a:t>
            </a:r>
            <a:endParaRPr lang="en-US" sz="2800" b="1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0A07DDB5-5B85-47F3-EC5A-067AE33F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800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B05036-E505-AC23-5D40-2AC78828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5951F2A-3D02-D9EF-4E51-00D8608E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3 — The Governed Environment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6517C4B-6FAE-4C7D-B4BC-6DCACE24B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Clean</a:t>
            </a:r>
            <a:r>
              <a:rPr lang="cs-CZ" dirty="0"/>
              <a:t> </a:t>
            </a:r>
            <a:r>
              <a:rPr lang="cs-CZ" dirty="0" err="1"/>
              <a:t>workspaces</a:t>
            </a:r>
            <a:r>
              <a:rPr lang="cs-CZ" dirty="0"/>
              <a:t>: </a:t>
            </a:r>
            <a:r>
              <a:rPr lang="cs-CZ" dirty="0" err="1"/>
              <a:t>Hogwarts</a:t>
            </a:r>
            <a:r>
              <a:rPr lang="cs-CZ" dirty="0"/>
              <a:t> · </a:t>
            </a:r>
            <a:r>
              <a:rPr lang="cs-CZ" dirty="0" err="1"/>
              <a:t>Core</a:t>
            </a:r>
            <a:r>
              <a:rPr lang="cs-CZ" dirty="0"/>
              <a:t> Data, </a:t>
            </a:r>
            <a:r>
              <a:rPr lang="cs-CZ" dirty="0" err="1"/>
              <a:t>Gryffindor</a:t>
            </a:r>
            <a:r>
              <a:rPr lang="cs-CZ" dirty="0"/>
              <a:t> · </a:t>
            </a:r>
            <a:r>
              <a:rPr lang="cs-CZ" dirty="0" err="1"/>
              <a:t>Reports</a:t>
            </a:r>
            <a:r>
              <a:rPr lang="cs-CZ" dirty="0"/>
              <a:t>, </a:t>
            </a:r>
            <a:r>
              <a:rPr lang="cs-CZ" dirty="0" err="1"/>
              <a:t>Slytherin</a:t>
            </a:r>
            <a:r>
              <a:rPr lang="cs-CZ" dirty="0"/>
              <a:t> · </a:t>
            </a:r>
            <a:r>
              <a:rPr lang="cs-CZ" dirty="0" err="1"/>
              <a:t>Reports</a:t>
            </a:r>
            <a:endParaRPr lang="cs-CZ" dirty="0"/>
          </a:p>
          <a:p>
            <a:r>
              <a:rPr lang="cs-CZ" dirty="0" err="1"/>
              <a:t>Certified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in </a:t>
            </a:r>
            <a:r>
              <a:rPr lang="cs-CZ" dirty="0" err="1"/>
              <a:t>Core</a:t>
            </a:r>
            <a:r>
              <a:rPr lang="cs-CZ" dirty="0"/>
              <a:t> Data: </a:t>
            </a:r>
            <a:r>
              <a:rPr lang="cs-CZ" dirty="0" err="1"/>
              <a:t>owner</a:t>
            </a:r>
            <a:r>
              <a:rPr lang="cs-CZ" dirty="0"/>
              <a:t>, </a:t>
            </a:r>
            <a:r>
              <a:rPr lang="cs-CZ" dirty="0" err="1"/>
              <a:t>contact</a:t>
            </a:r>
            <a:r>
              <a:rPr lang="cs-CZ" dirty="0"/>
              <a:t>, </a:t>
            </a:r>
            <a:r>
              <a:rPr lang="cs-CZ" dirty="0" err="1"/>
              <a:t>refresh</a:t>
            </a:r>
            <a:r>
              <a:rPr lang="cs-CZ" dirty="0"/>
              <a:t> </a:t>
            </a:r>
            <a:r>
              <a:rPr lang="cs-CZ" dirty="0" err="1"/>
              <a:t>schedule</a:t>
            </a:r>
            <a:r>
              <a:rPr lang="cs-CZ" dirty="0"/>
              <a:t>, </a:t>
            </a:r>
            <a:r>
              <a:rPr lang="cs-CZ" dirty="0" err="1"/>
              <a:t>endorsement</a:t>
            </a:r>
            <a:r>
              <a:rPr lang="cs-CZ" dirty="0"/>
              <a:t> </a:t>
            </a:r>
            <a:r>
              <a:rPr lang="cs-CZ" dirty="0" err="1"/>
              <a:t>badge</a:t>
            </a:r>
            <a:endParaRPr lang="cs-CZ" dirty="0"/>
          </a:p>
          <a:p>
            <a:r>
              <a:rPr lang="cs-CZ" dirty="0" err="1"/>
              <a:t>Lineage</a:t>
            </a:r>
            <a:r>
              <a:rPr lang="cs-CZ" dirty="0"/>
              <a:t> </a:t>
            </a:r>
            <a:r>
              <a:rPr lang="cs-CZ" dirty="0" err="1"/>
              <a:t>view</a:t>
            </a:r>
            <a:r>
              <a:rPr lang="cs-CZ" dirty="0"/>
              <a:t>: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→ </a:t>
            </a:r>
            <a:r>
              <a:rPr lang="cs-CZ" dirty="0" err="1"/>
              <a:t>enterprise</a:t>
            </a:r>
            <a:r>
              <a:rPr lang="cs-CZ" dirty="0"/>
              <a:t> report + </a:t>
            </a:r>
            <a:r>
              <a:rPr lang="cs-CZ" dirty="0" err="1"/>
              <a:t>self-service</a:t>
            </a:r>
            <a:r>
              <a:rPr lang="cs-CZ" dirty="0"/>
              <a:t> report</a:t>
            </a:r>
          </a:p>
          <a:p>
            <a:r>
              <a:rPr lang="cs-CZ" dirty="0" err="1"/>
              <a:t>Workspace</a:t>
            </a:r>
            <a:r>
              <a:rPr lang="cs-CZ" dirty="0"/>
              <a:t> </a:t>
            </a:r>
            <a:r>
              <a:rPr lang="cs-CZ" dirty="0" err="1"/>
              <a:t>access</a:t>
            </a:r>
            <a:r>
              <a:rPr lang="cs-CZ" dirty="0"/>
              <a:t>: data team </a:t>
            </a:r>
            <a:r>
              <a:rPr lang="cs-CZ" dirty="0" err="1"/>
              <a:t>owns</a:t>
            </a:r>
            <a:r>
              <a:rPr lang="cs-CZ" dirty="0"/>
              <a:t> </a:t>
            </a:r>
            <a:r>
              <a:rPr lang="cs-CZ" dirty="0" err="1"/>
              <a:t>Core</a:t>
            </a:r>
            <a:r>
              <a:rPr lang="cs-CZ" dirty="0"/>
              <a:t> Data, house </a:t>
            </a:r>
            <a:r>
              <a:rPr lang="cs-CZ" dirty="0" err="1"/>
              <a:t>heads</a:t>
            </a:r>
            <a:r>
              <a:rPr lang="cs-CZ" dirty="0"/>
              <a:t> </a:t>
            </a:r>
            <a:r>
              <a:rPr lang="cs-CZ" dirty="0" err="1"/>
              <a:t>own</a:t>
            </a:r>
            <a:r>
              <a:rPr lang="cs-CZ" dirty="0"/>
              <a:t> </a:t>
            </a:r>
            <a:r>
              <a:rPr lang="cs-CZ" dirty="0" err="1"/>
              <a:t>their</a:t>
            </a:r>
            <a:r>
              <a:rPr lang="cs-CZ" dirty="0"/>
              <a:t> report </a:t>
            </a:r>
            <a:r>
              <a:rPr lang="cs-CZ" dirty="0" err="1"/>
              <a:t>workspace</a:t>
            </a:r>
            <a:endParaRPr lang="cs-CZ" dirty="0"/>
          </a:p>
          <a:p>
            <a:r>
              <a:rPr lang="en-US" dirty="0"/>
              <a:t>RLS: </a:t>
            </a:r>
            <a:r>
              <a:rPr lang="cs-CZ" dirty="0" err="1"/>
              <a:t>View</a:t>
            </a:r>
            <a:r>
              <a:rPr lang="cs-CZ" dirty="0"/>
              <a:t> as role → </a:t>
            </a:r>
            <a:r>
              <a:rPr lang="cs-CZ" dirty="0" err="1"/>
              <a:t>Slytherin_Head</a:t>
            </a:r>
            <a:r>
              <a:rPr lang="cs-CZ" dirty="0"/>
              <a:t> →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Slytherin</a:t>
            </a:r>
            <a:r>
              <a:rPr lang="cs-CZ" dirty="0"/>
              <a:t> </a:t>
            </a:r>
            <a:r>
              <a:rPr lang="cs-CZ" dirty="0" err="1"/>
              <a:t>students</a:t>
            </a:r>
            <a:r>
              <a:rPr lang="cs-CZ" dirty="0"/>
              <a:t> </a:t>
            </a:r>
            <a:r>
              <a:rPr lang="cs-CZ" dirty="0" err="1"/>
              <a:t>visible</a:t>
            </a:r>
            <a:r>
              <a:rPr lang="cs-CZ" dirty="0"/>
              <a:t>. Switch to </a:t>
            </a:r>
            <a:r>
              <a:rPr lang="cs-CZ" dirty="0" err="1"/>
              <a:t>Headmaster</a:t>
            </a:r>
            <a:r>
              <a:rPr lang="cs-CZ" dirty="0"/>
              <a:t> → </a:t>
            </a:r>
            <a:r>
              <a:rPr lang="cs-CZ" dirty="0" err="1"/>
              <a:t>all</a:t>
            </a:r>
            <a:r>
              <a:rPr lang="cs-CZ" dirty="0"/>
              <a:t> 40 </a:t>
            </a:r>
            <a:r>
              <a:rPr lang="cs-CZ" dirty="0" err="1"/>
              <a:t>students</a:t>
            </a:r>
            <a:r>
              <a:rPr lang="cs-CZ" dirty="0"/>
              <a:t>. </a:t>
            </a:r>
            <a:r>
              <a:rPr lang="cs-CZ" dirty="0" err="1"/>
              <a:t>One</a:t>
            </a:r>
            <a:r>
              <a:rPr lang="cs-CZ" dirty="0"/>
              <a:t> report,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, </a:t>
            </a:r>
            <a:r>
              <a:rPr lang="cs-CZ" dirty="0" err="1"/>
              <a:t>different</a:t>
            </a:r>
            <a:r>
              <a:rPr lang="cs-CZ" dirty="0"/>
              <a:t> data per user.</a:t>
            </a:r>
          </a:p>
        </p:txBody>
      </p:sp>
    </p:spTree>
    <p:extLst>
      <p:ext uri="{BB962C8B-B14F-4D97-AF65-F5344CB8AC3E}">
        <p14:creationId xmlns:p14="http://schemas.microsoft.com/office/powerpoint/2010/main" val="3029517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407FD8-B20F-71EA-2865-CB446DAA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76D2FEF3-FB42-5977-A4D8-1D0E21D3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760884"/>
          </a:xfrm>
        </p:spPr>
        <p:txBody>
          <a:bodyPr>
            <a:noAutofit/>
          </a:bodyPr>
          <a:lstStyle/>
          <a:p>
            <a:r>
              <a:rPr lang="en-US" sz="2800" b="1" dirty="0"/>
              <a:t>DEMO 3 — The Governed Environment</a:t>
            </a:r>
          </a:p>
        </p:txBody>
      </p:sp>
      <p:pic>
        <p:nvPicPr>
          <p:cNvPr id="3" name="Zástupný obsah 2">
            <a:extLst>
              <a:ext uri="{FF2B5EF4-FFF2-40B4-BE49-F238E27FC236}">
                <a16:creationId xmlns:a16="http://schemas.microsoft.com/office/drawing/2014/main" id="{729E9071-7F63-DDA9-34EE-36D2515E1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9327" y="1981201"/>
            <a:ext cx="7343090" cy="39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30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45F97FAA-D393-992E-DFE4-9F87F5F6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188720"/>
          </a:xfrm>
        </p:spPr>
        <p:txBody>
          <a:bodyPr anchor="b">
            <a:normAutofit/>
          </a:bodyPr>
          <a:lstStyle/>
          <a:p>
            <a:r>
              <a:rPr lang="en-US" b="1"/>
              <a:t>Where to start — immediate actions</a:t>
            </a:r>
            <a:endParaRPr lang="cs-CZ" dirty="0"/>
          </a:p>
        </p:txBody>
      </p:sp>
      <p:graphicFrame>
        <p:nvGraphicFramePr>
          <p:cNvPr id="16" name="Zástupný obsah 7">
            <a:extLst>
              <a:ext uri="{FF2B5EF4-FFF2-40B4-BE49-F238E27FC236}">
                <a16:creationId xmlns:a16="http://schemas.microsoft.com/office/drawing/2014/main" id="{A16BAACB-5316-AD49-352F-20F1F49D1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557643"/>
              </p:ext>
            </p:extLst>
          </p:nvPr>
        </p:nvGraphicFramePr>
        <p:xfrm>
          <a:off x="581041" y="2340864"/>
          <a:ext cx="11026743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A92B-5A8C-01AC-A0D7-3361CC20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B5D53172-38A9-0FDA-2BE4-42B5A01F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188720"/>
          </a:xfrm>
        </p:spPr>
        <p:txBody>
          <a:bodyPr anchor="b">
            <a:normAutofit/>
          </a:bodyPr>
          <a:lstStyle/>
          <a:p>
            <a:r>
              <a:rPr lang="en-US" b="1" dirty="0"/>
              <a:t>Where to start — foundation</a:t>
            </a:r>
            <a:endParaRPr lang="cs-CZ" dirty="0"/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6B75142F-2B5B-F893-6E79-207ABA9A7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781954"/>
              </p:ext>
            </p:extLst>
          </p:nvPr>
        </p:nvGraphicFramePr>
        <p:xfrm>
          <a:off x="581041" y="2340864"/>
          <a:ext cx="11026743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1690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712F-7053-4249-1627-3EAEDFB4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521D803C-7BC8-2318-D6C5-4C190C5D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188720"/>
          </a:xfrm>
        </p:spPr>
        <p:txBody>
          <a:bodyPr anchor="b">
            <a:normAutofit/>
          </a:bodyPr>
          <a:lstStyle/>
          <a:p>
            <a:r>
              <a:rPr lang="en-US" b="1" dirty="0"/>
              <a:t>Where to start — structure</a:t>
            </a:r>
            <a:endParaRPr lang="cs-CZ" dirty="0"/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60A1E3B8-6A79-6B08-84D7-671BF7B75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484451"/>
              </p:ext>
            </p:extLst>
          </p:nvPr>
        </p:nvGraphicFramePr>
        <p:xfrm>
          <a:off x="581041" y="2340864"/>
          <a:ext cx="11026743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9753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7575-20CA-D6EF-A462-BF64B887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B862F48F-AA09-8675-2341-E4DDEB24F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Three things to take away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D049B684-5D5B-A3D2-6777-4206A24D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In the </a:t>
            </a:r>
            <a:r>
              <a:rPr lang="en-US" sz="1800" b="1" dirty="0"/>
              <a:t>beginning lean towards IT-centric governance </a:t>
            </a:r>
            <a:r>
              <a:rPr lang="en-US" sz="1800" dirty="0"/>
              <a:t>and as the users mature give the more responsibilities</a:t>
            </a:r>
            <a:endParaRPr lang="cs-CZ" sz="1800" dirty="0"/>
          </a:p>
          <a:p>
            <a:r>
              <a:rPr lang="en-US" sz="1800" b="1" dirty="0"/>
              <a:t>Govern the data layer </a:t>
            </a:r>
            <a:r>
              <a:rPr lang="en-US" sz="1800" dirty="0"/>
              <a:t>tightly. Give flexibility above it.</a:t>
            </a:r>
            <a:r>
              <a:rPr lang="cs-CZ" sz="1800" dirty="0"/>
              <a:t> </a:t>
            </a:r>
            <a:r>
              <a:rPr lang="en-US" sz="1800" b="1" dirty="0"/>
              <a:t>Separate </a:t>
            </a:r>
            <a:r>
              <a:rPr lang="en-US" sz="1800" dirty="0"/>
              <a:t>your </a:t>
            </a:r>
            <a:r>
              <a:rPr lang="en-US" sz="1800" b="1" dirty="0"/>
              <a:t>semantic models </a:t>
            </a:r>
            <a:r>
              <a:rPr lang="en-US" sz="1800" dirty="0"/>
              <a:t>from your </a:t>
            </a:r>
            <a:r>
              <a:rPr lang="en-US" sz="1800" b="1" dirty="0"/>
              <a:t>reports</a:t>
            </a:r>
            <a:r>
              <a:rPr lang="en-US" sz="1800" dirty="0"/>
              <a:t>.</a:t>
            </a:r>
          </a:p>
          <a:p>
            <a:r>
              <a:rPr lang="cs-CZ" sz="1800" b="1" dirty="0"/>
              <a:t>Start </a:t>
            </a:r>
            <a:r>
              <a:rPr lang="cs-CZ" sz="1800" b="1" dirty="0" err="1"/>
              <a:t>small</a:t>
            </a:r>
            <a:r>
              <a:rPr lang="cs-CZ" sz="1800" dirty="0"/>
              <a:t>, don</a:t>
            </a:r>
            <a:r>
              <a:rPr lang="en-US" sz="1800" dirty="0"/>
              <a:t>’</a:t>
            </a:r>
            <a:r>
              <a:rPr lang="cs-CZ" sz="1800" dirty="0"/>
              <a:t>t</a:t>
            </a:r>
            <a:r>
              <a:rPr lang="en-US" sz="1800" dirty="0"/>
              <a:t> rebuild everything once.</a:t>
            </a:r>
            <a:r>
              <a:rPr lang="cs-CZ" sz="1800" dirty="0"/>
              <a:t> </a:t>
            </a:r>
            <a:r>
              <a:rPr lang="en-US" sz="1800" dirty="0"/>
              <a:t>It is important not to overwhelm business users with governance from start.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62315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284E-1B8B-3023-6CCE-4DD5C050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3CD63361-9659-C892-9EAB-E3F7F52A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Big thanks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CB92AA29-1AFD-1F9E-1119-DED13A6C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 b="1" dirty="0"/>
              <a:t>you</a:t>
            </a:r>
            <a:r>
              <a:rPr lang="en-US" dirty="0"/>
              <a:t> for attending this session</a:t>
            </a:r>
          </a:p>
          <a:p>
            <a:r>
              <a:rPr lang="en-US" dirty="0"/>
              <a:t>Thanks to the organizers Ben and William</a:t>
            </a:r>
          </a:p>
          <a:p>
            <a:r>
              <a:rPr lang="en-US" dirty="0"/>
              <a:t>Thanks to my mentor Abhi Jayanty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85386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32CA-71CD-6FE2-C2A3-DAEAA5BF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2A6604A-495A-4C78-F9FB-D3C29F924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LI </a:t>
            </a:r>
            <a:r>
              <a:rPr lang="en-US" sz="2800" b="1" dirty="0" err="1"/>
              <a:t>Qr</a:t>
            </a:r>
            <a:r>
              <a:rPr lang="en-US" sz="2800" b="1" dirty="0"/>
              <a:t> code</a:t>
            </a:r>
          </a:p>
        </p:txBody>
      </p:sp>
      <p:pic>
        <p:nvPicPr>
          <p:cNvPr id="3" name="Zástupný obsah 2">
            <a:extLst>
              <a:ext uri="{FF2B5EF4-FFF2-40B4-BE49-F238E27FC236}">
                <a16:creationId xmlns:a16="http://schemas.microsoft.com/office/drawing/2014/main" id="{562E0226-389C-0595-5DB8-B618C22C0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1256" y="1333776"/>
            <a:ext cx="4769844" cy="482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235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Modrá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a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a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 BI - OTE 2025</Template>
  <TotalTime>1348</TotalTime>
  <Words>1494</Words>
  <Application>Microsoft Office PowerPoint</Application>
  <PresentationFormat>Vlastní</PresentationFormat>
  <Paragraphs>179</Paragraphs>
  <Slides>36</Slides>
  <Notes>27</Notes>
  <HiddenSlides>11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36</vt:i4>
      </vt:variant>
    </vt:vector>
  </HeadingPairs>
  <TitlesOfParts>
    <vt:vector size="41" baseType="lpstr">
      <vt:lpstr>Franklin Gothic Book</vt:lpstr>
      <vt:lpstr>Franklin Gothic Demi</vt:lpstr>
      <vt:lpstr>Roboto</vt:lpstr>
      <vt:lpstr>Wingdings 2</vt:lpstr>
      <vt:lpstr>DividendVTI</vt:lpstr>
      <vt:lpstr>Prezentace aplikace PowerPoint</vt:lpstr>
      <vt:lpstr>Speaker introduction</vt:lpstr>
      <vt:lpstr>ISSUES WITH INCORRECT POWER BI GOVERNANCE</vt:lpstr>
      <vt:lpstr>Two ways this goes wrong </vt:lpstr>
      <vt:lpstr>DEMO 1 — The Chaotic Workspace</vt:lpstr>
      <vt:lpstr>DEMO 1 — The Chaotic Workspace</vt:lpstr>
      <vt:lpstr>DEMO 1 — The Chaotic Workspace</vt:lpstr>
      <vt:lpstr>Why getting governance right is genuinely difficult</vt:lpstr>
      <vt:lpstr>Why both extremes cost you more than you think</vt:lpstr>
      <vt:lpstr>OVERVIEW OF THREE MAIN GOVERNANCE MODELS</vt:lpstr>
      <vt:lpstr>Three governance models — and when each fits</vt:lpstr>
      <vt:lpstr>The IT-centric model</vt:lpstr>
      <vt:lpstr>The full self-service model</vt:lpstr>
      <vt:lpstr>The federated model — the realistic middle ground</vt:lpstr>
      <vt:lpstr>How to set up correct governance</vt:lpstr>
      <vt:lpstr>DEMO 2 — Admin Portal: Tenant Settings</vt:lpstr>
      <vt:lpstr>DEMO – Tenant Settings: admin portal (backup)</vt:lpstr>
      <vt:lpstr>DEMO – Tenant Settings: admin portal (backup)</vt:lpstr>
      <vt:lpstr>DEMO – Tenant Settings: admin portal (backup)</vt:lpstr>
      <vt:lpstr>DEMO – Tenant Settings: admin portal (backup)</vt:lpstr>
      <vt:lpstr>DEMO – Tenant Settings: admin portal (backup)</vt:lpstr>
      <vt:lpstr>DEMO – Tenant Settings: admin portal (backup)</vt:lpstr>
      <vt:lpstr>DEMO – Tenant Settings: admin portal (backup)</vt:lpstr>
      <vt:lpstr>Separating semantic models from reports</vt:lpstr>
      <vt:lpstr>Separating semantic models from reports</vt:lpstr>
      <vt:lpstr>Choosing the right model for your organization</vt:lpstr>
      <vt:lpstr>From my experience</vt:lpstr>
      <vt:lpstr>DEMO 3 — The Governed Environment, concrete steps</vt:lpstr>
      <vt:lpstr>DEMO 3 — The Governed Environment</vt:lpstr>
      <vt:lpstr>DEMO 3 — The Governed Environment</vt:lpstr>
      <vt:lpstr>Where to start — immediate actions</vt:lpstr>
      <vt:lpstr>Where to start — foundation</vt:lpstr>
      <vt:lpstr>Where to start — structure</vt:lpstr>
      <vt:lpstr>Three things to take away</vt:lpstr>
      <vt:lpstr>Big thanks</vt:lpstr>
      <vt:lpstr>LI Qr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Mondřík</cp:lastModifiedBy>
  <cp:revision>25</cp:revision>
  <dcterms:created xsi:type="dcterms:W3CDTF">2013-01-27T09:14:16Z</dcterms:created>
  <dcterms:modified xsi:type="dcterms:W3CDTF">2026-05-08T11:51:08Z</dcterms:modified>
  <cp:category/>
</cp:coreProperties>
</file>